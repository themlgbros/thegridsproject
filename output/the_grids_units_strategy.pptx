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b6c1dba63541ae" /><Relationship Type="http://schemas.openxmlformats.org/officeDocument/2006/relationships/extended-properties" Target="/docProps/app.xml" Id="R2eaa16e42811453c" /><Relationship Type="http://schemas.openxmlformats.org/officeDocument/2006/relationships/officeDocument" Target="/ppt/presentation.xml" Id="R4f078a98ff5943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2248b05b004c07"/>
  </p:sldMasterIdLst>
  <p:notesMasterIdLst>
    <p:notesMasterId xmlns:r="http://schemas.openxmlformats.org/officeDocument/2006/relationships" r:id="R1056457eeda04aa3"/>
  </p:notesMasterIdLst>
  <p:sldIdLst>
    <p:sldId xmlns:r="http://schemas.openxmlformats.org/officeDocument/2006/relationships" id="256" r:id="Rea3500e298e54aa9"/>
    <p:sldId xmlns:r="http://schemas.openxmlformats.org/officeDocument/2006/relationships" id="257" r:id="R4a34518b75914638"/>
    <p:sldId xmlns:r="http://schemas.openxmlformats.org/officeDocument/2006/relationships" id="258" r:id="Rd37d36313d264cdb"/>
    <p:sldId xmlns:r="http://schemas.openxmlformats.org/officeDocument/2006/relationships" id="259" r:id="R150003ee0336455e"/>
    <p:sldId xmlns:r="http://schemas.openxmlformats.org/officeDocument/2006/relationships" id="260" r:id="R1d32b708fd9848bc"/>
    <p:sldId xmlns:r="http://schemas.openxmlformats.org/officeDocument/2006/relationships" id="261" r:id="R7d042aa444184456"/>
    <p:sldId xmlns:r="http://schemas.openxmlformats.org/officeDocument/2006/relationships" id="262" r:id="R53145b98a4a54c60"/>
    <p:sldId xmlns:r="http://schemas.openxmlformats.org/officeDocument/2006/relationships" id="263" r:id="R7b75f09b7b904ad6"/>
    <p:sldId xmlns:r="http://schemas.openxmlformats.org/officeDocument/2006/relationships" id="264" r:id="Rf6e125963cf8443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248b05b004c07" /><Relationship Type="http://schemas.openxmlformats.org/officeDocument/2006/relationships/theme" Target="/ppt/theme/theme1.xml" Id="Rcaf14a3e9fd5493a" /><Relationship Type="http://schemas.openxmlformats.org/officeDocument/2006/relationships/notesMaster" Target="/ppt/notesMasters/notesMaster1.xml" Id="R1056457eeda04aa3" /><Relationship Type="http://schemas.openxmlformats.org/officeDocument/2006/relationships/presProps" Target="/ppt/presProps.xml" Id="R19f16622107447bd" /><Relationship Type="http://schemas.openxmlformats.org/officeDocument/2006/relationships/viewProps" Target="/ppt/viewProps.xml" Id="R9138f52ec1bd4a4d" /><Relationship Type="http://schemas.openxmlformats.org/officeDocument/2006/relationships/tableStyles" Target="/ppt/tableStyles.xml" Id="Raaa164d5a25b4949" /><Relationship Type="http://schemas.openxmlformats.org/officeDocument/2006/relationships/slide" Target="/ppt/slides/slide1.xml" Id="Rea3500e298e54aa9" /><Relationship Type="http://schemas.openxmlformats.org/officeDocument/2006/relationships/slide" Target="/ppt/slides/slide2.xml" Id="R4a34518b75914638" /><Relationship Type="http://schemas.openxmlformats.org/officeDocument/2006/relationships/slide" Target="/ppt/slides/slide3.xml" Id="Rd37d36313d264cdb" /><Relationship Type="http://schemas.openxmlformats.org/officeDocument/2006/relationships/slide" Target="/ppt/slides/slide4.xml" Id="R150003ee0336455e" /><Relationship Type="http://schemas.openxmlformats.org/officeDocument/2006/relationships/slide" Target="/ppt/slides/slide5.xml" Id="R1d32b708fd9848bc" /><Relationship Type="http://schemas.openxmlformats.org/officeDocument/2006/relationships/slide" Target="/ppt/slides/slide6.xml" Id="R7d042aa444184456" /><Relationship Type="http://schemas.openxmlformats.org/officeDocument/2006/relationships/slide" Target="/ppt/slides/slide7.xml" Id="R53145b98a4a54c60" /><Relationship Type="http://schemas.openxmlformats.org/officeDocument/2006/relationships/slide" Target="/ppt/slides/slide8.xml" Id="R7b75f09b7b904ad6" /><Relationship Type="http://schemas.openxmlformats.org/officeDocument/2006/relationships/slide" Target="/ppt/slides/slide9.xml" Id="Rf6e125963cf844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80c8bbb28844f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384184d9424fec" /><Relationship Type="http://schemas.openxmlformats.org/officeDocument/2006/relationships/notesMaster" Target="/ppt/notesMasters/notesMaster1.xml" Id="Rd03eabfff0404b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92692636bc4d64" /><Relationship Type="http://schemas.openxmlformats.org/officeDocument/2006/relationships/notesMaster" Target="/ppt/notesMasters/notesMaster1.xml" Id="R036252bff03944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e0e8c02bc045d3" /><Relationship Type="http://schemas.openxmlformats.org/officeDocument/2006/relationships/notesMaster" Target="/ppt/notesMasters/notesMaster1.xml" Id="Rb0bcf4c2bf844d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e16eb3424a48ff" /><Relationship Type="http://schemas.openxmlformats.org/officeDocument/2006/relationships/notesMaster" Target="/ppt/notesMasters/notesMaster1.xml" Id="R9e6ed4ea528c4e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245aa3389a463e" /><Relationship Type="http://schemas.openxmlformats.org/officeDocument/2006/relationships/notesMaster" Target="/ppt/notesMasters/notesMaster1.xml" Id="Rf78c314a2ee747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188c33a886488f" /><Relationship Type="http://schemas.openxmlformats.org/officeDocument/2006/relationships/notesMaster" Target="/ppt/notesMasters/notesMaster1.xml" Id="Ra59de8c98fde48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70a0404d0d48bd" /><Relationship Type="http://schemas.openxmlformats.org/officeDocument/2006/relationships/notesMaster" Target="/ppt/notesMasters/notesMaster1.xml" Id="Rd836ab9d193a49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e1d7dbb16e4f5d" /><Relationship Type="http://schemas.openxmlformats.org/officeDocument/2006/relationships/notesMaster" Target="/ppt/notesMasters/notesMaster1.xml" Id="Rc1fc139106cd4b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58d081fcfc4f71" /><Relationship Type="http://schemas.openxmlformats.org/officeDocument/2006/relationships/notesMaster" Target="/ppt/notesMasters/notesMaster1.xml" Id="R36e024db0dc145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d5224912054b0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27b75e4a7cb4f85" /><Relationship Type="http://schemas.openxmlformats.org/officeDocument/2006/relationships/slideLayout" Target="/ppt/slideLayouts/slideLayout2.xml" Id="R6ead55b1aed14d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ad55b1aed14d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a2bed366d54042" /><Relationship Type="http://schemas.openxmlformats.org/officeDocument/2006/relationships/image" Target="/ppt/media/image.png" Id="R0ba3546969354835" /><Relationship Type="http://schemas.openxmlformats.org/officeDocument/2006/relationships/image" Target="/ppt/media/image2.png" Id="R18dd347c68914909" /><Relationship Type="http://schemas.openxmlformats.org/officeDocument/2006/relationships/image" Target="/ppt/media/image3.png" Id="Rc9b4a3dbaccb4d54" /><Relationship Type="http://schemas.openxmlformats.org/officeDocument/2006/relationships/image" Target="/ppt/media/image4.png" Id="Red4f6d2dd88b4c7d" /><Relationship Type="http://schemas.openxmlformats.org/officeDocument/2006/relationships/image" Target="/ppt/media/image5.png" Id="Rbcd9d7e2728c446e" /><Relationship Type="http://schemas.openxmlformats.org/officeDocument/2006/relationships/image" Target="/ppt/media/image6.png" Id="R18f15580562b406d" /><Relationship Type="http://schemas.openxmlformats.org/officeDocument/2006/relationships/notesSlide" Target="/ppt/notesSlides/notesSlide1.xml" Id="Rbb513f14c7d74f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5438a206eb4cbd" /><Relationship Type="http://schemas.openxmlformats.org/officeDocument/2006/relationships/image" Target="/ppt/media/image7.png" Id="Rd4097b8379bd49f0" /><Relationship Type="http://schemas.openxmlformats.org/officeDocument/2006/relationships/image" Target="/ppt/media/image8.png" Id="Ref65589c79764dea" /><Relationship Type="http://schemas.openxmlformats.org/officeDocument/2006/relationships/image" Target="/ppt/media/image9.png" Id="Re1281df6822f4b39" /><Relationship Type="http://schemas.openxmlformats.org/officeDocument/2006/relationships/image" Target="/ppt/media/image10.png" Id="R503b47d06bc04541" /><Relationship Type="http://schemas.openxmlformats.org/officeDocument/2006/relationships/image" Target="/ppt/media/image11.png" Id="R24627d395e05460b" /><Relationship Type="http://schemas.openxmlformats.org/officeDocument/2006/relationships/image" Target="/ppt/media/image12.png" Id="R366a123caa264c20" /><Relationship Type="http://schemas.openxmlformats.org/officeDocument/2006/relationships/notesSlide" Target="/ppt/notesSlides/notesSlide2.xml" Id="Rd3fc812211a34a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75ba73fdba4386" /><Relationship Type="http://schemas.openxmlformats.org/officeDocument/2006/relationships/image" Target="/ppt/media/image13.png" Id="R7aab1f07d2284362" /><Relationship Type="http://schemas.openxmlformats.org/officeDocument/2006/relationships/notesSlide" Target="/ppt/notesSlides/notesSlide3.xml" Id="Rdf18a01cf9b64b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aa02ceeedf43cf" /><Relationship Type="http://schemas.openxmlformats.org/officeDocument/2006/relationships/image" Target="/ppt/media/image14.png" Id="R98311b990061410b" /><Relationship Type="http://schemas.openxmlformats.org/officeDocument/2006/relationships/image" Target="/ppt/media/image15.png" Id="Rd0317b1043f6451e" /><Relationship Type="http://schemas.openxmlformats.org/officeDocument/2006/relationships/notesSlide" Target="/ppt/notesSlides/notesSlide4.xml" Id="R666698557c934c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48caeebbf04a38" /><Relationship Type="http://schemas.openxmlformats.org/officeDocument/2006/relationships/image" Target="/ppt/media/image16.png" Id="R3ce9326c031b4fa6" /><Relationship Type="http://schemas.openxmlformats.org/officeDocument/2006/relationships/image" Target="/ppt/media/image17.png" Id="Rbea9cf4fa81c4e4f" /><Relationship Type="http://schemas.openxmlformats.org/officeDocument/2006/relationships/notesSlide" Target="/ppt/notesSlides/notesSlide5.xml" Id="R8630bdc8b88b47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17fce743be483a" /><Relationship Type="http://schemas.openxmlformats.org/officeDocument/2006/relationships/image" Target="/ppt/media/image18.png" Id="R0802bcd4511c4d9c" /><Relationship Type="http://schemas.openxmlformats.org/officeDocument/2006/relationships/notesSlide" Target="/ppt/notesSlides/notesSlide6.xml" Id="Ree7d94cb017f4f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58ed0fa50743b0" /><Relationship Type="http://schemas.openxmlformats.org/officeDocument/2006/relationships/notesSlide" Target="/ppt/notesSlides/notesSlide7.xml" Id="R880f6b6b186444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3947921cd2466b" /><Relationship Type="http://schemas.openxmlformats.org/officeDocument/2006/relationships/image" Target="/ppt/media/image19.png" Id="R76432dcbd0cc4b63" /><Relationship Type="http://schemas.openxmlformats.org/officeDocument/2006/relationships/image" Target="/ppt/media/image20.png" Id="R16d99ef5ed034285" /><Relationship Type="http://schemas.openxmlformats.org/officeDocument/2006/relationships/image" Target="/ppt/media/image21.png" Id="R69dd70608e2e4322" /><Relationship Type="http://schemas.openxmlformats.org/officeDocument/2006/relationships/image" Target="/ppt/media/image22.png" Id="R8d53101f93034d38" /><Relationship Type="http://schemas.openxmlformats.org/officeDocument/2006/relationships/image" Target="/ppt/media/image23.png" Id="R679167d2152f497d" /><Relationship Type="http://schemas.openxmlformats.org/officeDocument/2006/relationships/notesSlide" Target="/ppt/notesSlides/notesSlide8.xml" Id="Rfba8dd4baf6849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d5d9900c43422d" /><Relationship Type="http://schemas.openxmlformats.org/officeDocument/2006/relationships/notesSlide" Target="/ppt/notesSlides/notesSlide9.xml" Id="Rd56d57f8c1764f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3E7F295-5C06-42A4-9FA3-5DADA4E6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8"/>
          </a:solidFill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F2F9CC3-406E-4F2F-8B2A-8DB6B724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8324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A642"/>
                </a:solidFill>
              </a:defRPr>
            </a:pPr>
            <a:r>
              <a:rPr sz="1800" b="1">
                <a:solidFill>
                  <a:srgbClr val="D8A642"/>
                </a:solidFill>
              </a:rPr>
              <a:t>THE GRIDS PROJECT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3A798D3-6AFC-4C96-A77C-14712708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8324850" cy="201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8E8"/>
                </a:solidFill>
              </a:defRPr>
            </a:pPr>
            <a:r>
              <a:rPr sz="6600" b="1">
                <a:solidFill>
                  <a:srgbClr val="FFF8E8"/>
                </a:solidFill>
              </a:rPr>
              <a:t>Units with jobs, not just numbers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3D96A21-D52C-4D6F-8986-A248C45D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7900"/>
            <a:ext cx="8096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D8E3D8"/>
                </a:solidFill>
              </a:defRPr>
            </a:pPr>
            <a:r>
              <a:rPr sz="2325">
                <a:solidFill>
                  <a:srgbClr val="D8E3D8"/>
                </a:solidFill>
              </a:rPr>
              <a:t>A playable guide to stats, personalities, and the strategic habits that make the roster work together.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CEB944C8-F162-4650-B276-F99BAFAE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0565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42"/>
          </a:solidFill>
          <a:ln xmlns:a="http://schemas.openxmlformats.org/drawingml/2006/main" w="0">
            <a:solidFill>
              <a:srgbClr val="D8A642"/>
            </a:solidFill>
            <a:prstDash val="solid"/>
          </a:ln>
        </p:spPr>
      </p:sp>
      <p:sp>
        <p:nvSpPr>
          <p:cNvPr id="6" name="cover-Commander">
            <a:extLst xmlns:a="http://schemas.openxmlformats.org/drawingml/2006/main">
              <a:ext uri="{FF2B5EF4-FFF2-40B4-BE49-F238E27FC236}">
                <a16:creationId xmlns:a16="http://schemas.microsoft.com/office/drawing/2014/main" id="{4208B19D-5522-4F2D-B36B-E93C6029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1524000"/>
            <a:ext cx="2395220" cy="3533775"/>
          </a:xfrm>
          <a:prstGeom xmlns:a="http://schemas.openxmlformats.org/drawingml/2006/main" prst="roundRect">
            <a:avLst>
              <a:gd name="adj" fmla="val 9544"/>
            </a:avLst>
          </a:prstGeom>
          <a:solidFill xmlns:a="http://schemas.openxmlformats.org/drawingml/2006/main">
            <a:srgbClr val="263135"/>
          </a:solidFill>
        </p:spPr>
      </p:sp>
      <p:pic>
        <p:nvPicPr>
          <p:cNvPr id="7" name="Commande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3546969354835"/>
          <a:stretch xmlns:a="http://schemas.openxmlformats.org/drawingml/2006/main"/>
        </p:blipFill>
        <p:spPr>
          <a:xfrm xmlns:a="http://schemas.openxmlformats.org/drawingml/2006/main">
            <a:off x="10191750" y="2311718"/>
            <a:ext cx="1695450" cy="1695450"/>
          </a:xfrm>
          <a:prstGeom xmlns:a="http://schemas.openxmlformats.org/drawingml/2006/main" prst="rect">
            <a:avLst/>
          </a:prstGeom>
        </p:spPr>
      </p:pic>
      <p:sp>
        <p:nvSpPr>
          <p:cNvPr id="8" name="cover-name-Commander">
            <a:extLst xmlns:a="http://schemas.openxmlformats.org/drawingml/2006/main">
              <a:ext uri="{FF2B5EF4-FFF2-40B4-BE49-F238E27FC236}">
                <a16:creationId xmlns:a16="http://schemas.microsoft.com/office/drawing/2014/main" id="{18794F8A-2A4C-4568-8F21-139BC6C3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57650"/>
            <a:ext cx="205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</a:defRPr>
            </a:pPr>
            <a:r>
              <a:rPr sz="1350" b="1">
                <a:solidFill>
                  <a:srgbClr val="FFF8E8"/>
                </a:solidFill>
              </a:rPr>
              <a:t>Commander</a:t>
            </a:r>
          </a:p>
        </p:txBody>
      </p:sp>
      <p:sp>
        <p:nvSpPr>
          <p:cNvPr id="9" name="cover-Warrior">
            <a:extLst xmlns:a="http://schemas.openxmlformats.org/drawingml/2006/main">
              <a:ext uri="{FF2B5EF4-FFF2-40B4-BE49-F238E27FC236}">
                <a16:creationId xmlns:a16="http://schemas.microsoft.com/office/drawing/2014/main" id="{F6334CE0-CDAD-4786-8442-1861E8DB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710" y="1524000"/>
            <a:ext cx="2395220" cy="3533775"/>
          </a:xfrm>
          <a:prstGeom xmlns:a="http://schemas.openxmlformats.org/drawingml/2006/main" prst="roundRect">
            <a:avLst>
              <a:gd name="adj" fmla="val 9544"/>
            </a:avLst>
          </a:prstGeom>
          <a:solidFill xmlns:a="http://schemas.openxmlformats.org/drawingml/2006/main">
            <a:srgbClr val="263135"/>
          </a:solidFill>
        </p:spPr>
      </p:sp>
      <p:pic>
        <p:nvPicPr>
          <p:cNvPr id="10" name="Warrio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d347c68914909"/>
          <a:stretch xmlns:a="http://schemas.openxmlformats.org/drawingml/2006/main"/>
        </p:blipFill>
        <p:spPr>
          <a:xfrm xmlns:a="http://schemas.openxmlformats.org/drawingml/2006/main">
            <a:off x="12763500" y="2311718"/>
            <a:ext cx="1695450" cy="1695450"/>
          </a:xfrm>
          <a:prstGeom xmlns:a="http://schemas.openxmlformats.org/drawingml/2006/main" prst="rect">
            <a:avLst/>
          </a:prstGeom>
        </p:spPr>
      </p:pic>
      <p:sp>
        <p:nvSpPr>
          <p:cNvPr id="11" name="cover-name-Warrior">
            <a:extLst xmlns:a="http://schemas.openxmlformats.org/drawingml/2006/main">
              <a:ext uri="{FF2B5EF4-FFF2-40B4-BE49-F238E27FC236}">
                <a16:creationId xmlns:a16="http://schemas.microsoft.com/office/drawing/2014/main" id="{3D1E4252-311C-41A4-AD5D-AD062258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057650"/>
            <a:ext cx="205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</a:defRPr>
            </a:pPr>
            <a:r>
              <a:rPr sz="1350" b="1">
                <a:solidFill>
                  <a:srgbClr val="FFF8E8"/>
                </a:solidFill>
              </a:rPr>
              <a:t>Warrior</a:t>
            </a:r>
          </a:p>
        </p:txBody>
      </p:sp>
      <p:sp>
        <p:nvSpPr>
          <p:cNvPr id="12" name="cover-Archer">
            <a:extLst xmlns:a="http://schemas.openxmlformats.org/drawingml/2006/main">
              <a:ext uri="{FF2B5EF4-FFF2-40B4-BE49-F238E27FC236}">
                <a16:creationId xmlns:a16="http://schemas.microsoft.com/office/drawing/2014/main" id="{880A1FB7-6B3E-484C-B842-0FD3E498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380" y="1524000"/>
            <a:ext cx="2395220" cy="3533775"/>
          </a:xfrm>
          <a:prstGeom xmlns:a="http://schemas.openxmlformats.org/drawingml/2006/main" prst="roundRect">
            <a:avLst>
              <a:gd name="adj" fmla="val 9544"/>
            </a:avLst>
          </a:prstGeom>
          <a:solidFill xmlns:a="http://schemas.openxmlformats.org/drawingml/2006/main">
            <a:srgbClr val="263135"/>
          </a:solidFill>
        </p:spPr>
      </p:sp>
      <p:pic>
        <p:nvPicPr>
          <p:cNvPr id="13" name="Arche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4a3dbaccb4d54"/>
          <a:stretch xmlns:a="http://schemas.openxmlformats.org/drawingml/2006/main"/>
        </p:blipFill>
        <p:spPr>
          <a:xfrm xmlns:a="http://schemas.openxmlformats.org/drawingml/2006/main">
            <a:off x="15335250" y="2311718"/>
            <a:ext cx="1695450" cy="1695450"/>
          </a:xfrm>
          <a:prstGeom xmlns:a="http://schemas.openxmlformats.org/drawingml/2006/main" prst="rect">
            <a:avLst/>
          </a:prstGeom>
        </p:spPr>
      </p:pic>
      <p:sp>
        <p:nvSpPr>
          <p:cNvPr id="14" name="cover-name-Archer">
            <a:extLst xmlns:a="http://schemas.openxmlformats.org/drawingml/2006/main">
              <a:ext uri="{FF2B5EF4-FFF2-40B4-BE49-F238E27FC236}">
                <a16:creationId xmlns:a16="http://schemas.microsoft.com/office/drawing/2014/main" id="{87ECD43F-6CC5-4573-99AB-BA190F99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4057650"/>
            <a:ext cx="205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</a:defRPr>
            </a:pPr>
            <a:r>
              <a:rPr sz="1350" b="1">
                <a:solidFill>
                  <a:srgbClr val="FFF8E8"/>
                </a:solidFill>
              </a:rPr>
              <a:t>Archer</a:t>
            </a:r>
          </a:p>
        </p:txBody>
      </p:sp>
      <p:sp>
        <p:nvSpPr>
          <p:cNvPr id="15" name="cover-Healer">
            <a:extLst xmlns:a="http://schemas.openxmlformats.org/drawingml/2006/main">
              <a:ext uri="{FF2B5EF4-FFF2-40B4-BE49-F238E27FC236}">
                <a16:creationId xmlns:a16="http://schemas.microsoft.com/office/drawing/2014/main" id="{F05B206C-7C7C-4052-9B04-33B78299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5229225"/>
            <a:ext cx="2395220" cy="3533775"/>
          </a:xfrm>
          <a:prstGeom xmlns:a="http://schemas.openxmlformats.org/drawingml/2006/main" prst="roundRect">
            <a:avLst>
              <a:gd name="adj" fmla="val 9544"/>
            </a:avLst>
          </a:prstGeom>
          <a:solidFill xmlns:a="http://schemas.openxmlformats.org/drawingml/2006/main">
            <a:srgbClr val="263135"/>
          </a:solidFill>
        </p:spPr>
      </p:sp>
      <p:pic>
        <p:nvPicPr>
          <p:cNvPr id="16" name="Heale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f6d2dd88b4c7d"/>
          <a:stretch xmlns:a="http://schemas.openxmlformats.org/drawingml/2006/main"/>
        </p:blipFill>
        <p:spPr>
          <a:xfrm xmlns:a="http://schemas.openxmlformats.org/drawingml/2006/main">
            <a:off x="10191750" y="6016943"/>
            <a:ext cx="1695450" cy="1695450"/>
          </a:xfrm>
          <a:prstGeom xmlns:a="http://schemas.openxmlformats.org/drawingml/2006/main" prst="rect">
            <a:avLst/>
          </a:prstGeom>
        </p:spPr>
      </p:pic>
      <p:sp>
        <p:nvSpPr>
          <p:cNvPr id="17" name="cover-name-Healer">
            <a:extLst xmlns:a="http://schemas.openxmlformats.org/drawingml/2006/main">
              <a:ext uri="{FF2B5EF4-FFF2-40B4-BE49-F238E27FC236}">
                <a16:creationId xmlns:a16="http://schemas.microsoft.com/office/drawing/2014/main" id="{B43A5972-D9BA-4221-9716-DA66B38A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7772400"/>
            <a:ext cx="205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</a:defRPr>
            </a:pPr>
            <a:r>
              <a:rPr sz="1350" b="1">
                <a:solidFill>
                  <a:srgbClr val="FFF8E8"/>
                </a:solidFill>
              </a:rPr>
              <a:t>Healer</a:t>
            </a:r>
          </a:p>
        </p:txBody>
      </p:sp>
      <p:sp>
        <p:nvSpPr>
          <p:cNvPr id="18" name="cover-Trebuchet">
            <a:extLst xmlns:a="http://schemas.openxmlformats.org/drawingml/2006/main">
              <a:ext uri="{FF2B5EF4-FFF2-40B4-BE49-F238E27FC236}">
                <a16:creationId xmlns:a16="http://schemas.microsoft.com/office/drawing/2014/main" id="{B129063C-4957-4204-AADD-CD5B4AE5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710" y="5229225"/>
            <a:ext cx="2395220" cy="3533775"/>
          </a:xfrm>
          <a:prstGeom xmlns:a="http://schemas.openxmlformats.org/drawingml/2006/main" prst="roundRect">
            <a:avLst>
              <a:gd name="adj" fmla="val 9544"/>
            </a:avLst>
          </a:prstGeom>
          <a:solidFill xmlns:a="http://schemas.openxmlformats.org/drawingml/2006/main">
            <a:srgbClr val="263135"/>
          </a:solidFill>
        </p:spPr>
      </p:sp>
      <p:pic>
        <p:nvPicPr>
          <p:cNvPr id="19" name="Trebuchet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9d7e2728c446e"/>
          <a:stretch xmlns:a="http://schemas.openxmlformats.org/drawingml/2006/main"/>
        </p:blipFill>
        <p:spPr>
          <a:xfrm xmlns:a="http://schemas.openxmlformats.org/drawingml/2006/main">
            <a:off x="12763500" y="6016943"/>
            <a:ext cx="1695450" cy="1695450"/>
          </a:xfrm>
          <a:prstGeom xmlns:a="http://schemas.openxmlformats.org/drawingml/2006/main" prst="rect">
            <a:avLst/>
          </a:prstGeom>
        </p:spPr>
      </p:pic>
      <p:sp>
        <p:nvSpPr>
          <p:cNvPr id="20" name="cover-name-Trebuchet">
            <a:extLst xmlns:a="http://schemas.openxmlformats.org/drawingml/2006/main">
              <a:ext uri="{FF2B5EF4-FFF2-40B4-BE49-F238E27FC236}">
                <a16:creationId xmlns:a16="http://schemas.microsoft.com/office/drawing/2014/main" id="{6C5F02EA-99D6-4C28-A163-F1D9D202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772400"/>
            <a:ext cx="205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</a:defRPr>
            </a:pPr>
            <a:r>
              <a:rPr sz="1350" b="1">
                <a:solidFill>
                  <a:srgbClr val="FFF8E8"/>
                </a:solidFill>
              </a:rPr>
              <a:t>Trebuchet</a:t>
            </a:r>
          </a:p>
        </p:txBody>
      </p:sp>
      <p:sp>
        <p:nvSpPr>
          <p:cNvPr id="21" name="cover-Viking">
            <a:extLst xmlns:a="http://schemas.openxmlformats.org/drawingml/2006/main">
              <a:ext uri="{FF2B5EF4-FFF2-40B4-BE49-F238E27FC236}">
                <a16:creationId xmlns:a16="http://schemas.microsoft.com/office/drawing/2014/main" id="{13C95E0F-4ABE-4BFC-AF97-AB14993D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380" y="5229225"/>
            <a:ext cx="2395220" cy="3533775"/>
          </a:xfrm>
          <a:prstGeom xmlns:a="http://schemas.openxmlformats.org/drawingml/2006/main" prst="roundRect">
            <a:avLst>
              <a:gd name="adj" fmla="val 9544"/>
            </a:avLst>
          </a:prstGeom>
          <a:solidFill xmlns:a="http://schemas.openxmlformats.org/drawingml/2006/main">
            <a:srgbClr val="263135"/>
          </a:solidFill>
        </p:spPr>
      </p:sp>
      <p:pic>
        <p:nvPicPr>
          <p:cNvPr id="22" name="Viking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15580562b406d"/>
          <a:stretch xmlns:a="http://schemas.openxmlformats.org/drawingml/2006/main"/>
        </p:blipFill>
        <p:spPr>
          <a:xfrm xmlns:a="http://schemas.openxmlformats.org/drawingml/2006/main">
            <a:off x="15335250" y="6016943"/>
            <a:ext cx="1695450" cy="1695450"/>
          </a:xfrm>
          <a:prstGeom xmlns:a="http://schemas.openxmlformats.org/drawingml/2006/main" prst="rect">
            <a:avLst/>
          </a:prstGeom>
        </p:spPr>
      </p:pic>
      <p:sp>
        <p:nvSpPr>
          <p:cNvPr id="23" name="cover-name-Viking">
            <a:extLst xmlns:a="http://schemas.openxmlformats.org/drawingml/2006/main">
              <a:ext uri="{FF2B5EF4-FFF2-40B4-BE49-F238E27FC236}">
                <a16:creationId xmlns:a16="http://schemas.microsoft.com/office/drawing/2014/main" id="{31E08638-34CE-4145-8FB4-34FF4400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7772400"/>
            <a:ext cx="205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</a:defRPr>
            </a:pPr>
            <a:r>
              <a:rPr sz="1350" b="1">
                <a:solidFill>
                  <a:srgbClr val="FFF8E8"/>
                </a:solidFill>
              </a:rPr>
              <a:t>Viking</a:t>
            </a:r>
          </a:p>
        </p:txBody>
      </p:sp>
    </p:spTree>
    <p:extLst>
      <p:ext uri="{BB962C8B-B14F-4D97-AF65-F5344CB8AC3E}">
        <p14:creationId xmlns:p14="http://schemas.microsoft.com/office/powerpoint/2010/main" val="10855297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B4BA249-8D6B-4EA9-9BD4-8995CB0A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DE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C3A043C-98E1-4BA4-A864-09F4EE1D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684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4737"/>
                </a:solidFill>
              </a:defRPr>
            </a:pPr>
            <a:r>
              <a:rPr sz="1650" b="1">
                <a:solidFill>
                  <a:srgbClr val="B84737"/>
                </a:solidFill>
              </a:rPr>
              <a:t>ROSTER SNAPSHOT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A413FB-4947-4852-80B3-E46E5614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68402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126"/>
                </a:solidFill>
              </a:defRPr>
            </a:pPr>
            <a:r>
              <a:rPr sz="4800" b="1">
                <a:solidFill>
                  <a:srgbClr val="172126"/>
                </a:solidFill>
              </a:rPr>
              <a:t>Every unit has a sharp tactical job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A83DC1B-4052-4942-AB31-D5225AB9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6840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05158"/>
                </a:solidFill>
              </a:defRPr>
            </a:pPr>
            <a:r>
              <a:rPr sz="2100">
                <a:solidFill>
                  <a:srgbClr val="405158"/>
                </a:solidFill>
              </a:rPr>
              <a:t>Stats define the limits; personality tells you when to commit.</a:t>
            </a:r>
          </a:p>
        </p:txBody>
      </p:sp>
      <p:sp>
        <p:nvSpPr>
          <p:cNvPr id="5" name="Commander-roster-cell">
            <a:extLst xmlns:a="http://schemas.openxmlformats.org/drawingml/2006/main">
              <a:ext uri="{FF2B5EF4-FFF2-40B4-BE49-F238E27FC236}">
                <a16:creationId xmlns:a16="http://schemas.microsoft.com/office/drawing/2014/main" id="{77FE617C-122D-4245-9DB2-9E97E370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2220"/>
            <a:ext cx="5461000" cy="3482340"/>
          </a:xfrm>
          <a:prstGeom xmlns:a="http://schemas.openxmlformats.org/drawingml/2006/main" prst="roundRect">
            <a:avLst>
              <a:gd name="adj" fmla="val 547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pic>
        <p:nvPicPr>
          <p:cNvPr id="6" name="Commande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97b8379bd49f0"/>
          <a:stretch xmlns:a="http://schemas.openxmlformats.org/drawingml/2006/main"/>
        </p:blipFill>
        <p:spPr>
          <a:xfrm xmlns:a="http://schemas.openxmlformats.org/drawingml/2006/main">
            <a:off x="2857500" y="2731770"/>
            <a:ext cx="1181100" cy="1181100"/>
          </a:xfrm>
          <a:prstGeom xmlns:a="http://schemas.openxmlformats.org/drawingml/2006/main" prst="rect">
            <a:avLst/>
          </a:prstGeom>
        </p:spPr>
      </p:pic>
      <p:sp>
        <p:nvSpPr>
          <p:cNvPr id="7" name="Commander-name">
            <a:extLst xmlns:a="http://schemas.openxmlformats.org/drawingml/2006/main">
              <a:ext uri="{FF2B5EF4-FFF2-40B4-BE49-F238E27FC236}">
                <a16:creationId xmlns:a16="http://schemas.microsoft.com/office/drawing/2014/main" id="{F4D0513A-B531-4D48-8C2D-E1C0EE7C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6"/>
                </a:solidFill>
              </a:defRPr>
            </a:pPr>
            <a:r>
              <a:rPr sz="2325" b="1">
                <a:solidFill>
                  <a:srgbClr val="172126"/>
                </a:solidFill>
              </a:rPr>
              <a:t>Commander</a:t>
            </a:r>
          </a:p>
        </p:txBody>
      </p:sp>
      <p:sp>
        <p:nvSpPr>
          <p:cNvPr id="8" name="Commander-role">
            <a:extLst xmlns:a="http://schemas.openxmlformats.org/drawingml/2006/main">
              <a:ext uri="{FF2B5EF4-FFF2-40B4-BE49-F238E27FC236}">
                <a16:creationId xmlns:a16="http://schemas.microsoft.com/office/drawing/2014/main" id="{B2325366-08A0-482C-9476-FD413D72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A642"/>
                </a:solidFill>
              </a:defRPr>
            </a:pPr>
            <a:r>
              <a:rPr sz="1275" b="1">
                <a:solidFill>
                  <a:srgbClr val="D8A642"/>
                </a:solidFill>
              </a:rPr>
              <a:t>Anchor</a:t>
            </a:r>
          </a:p>
        </p:txBody>
      </p:sp>
      <p:sp>
        <p:nvSpPr>
          <p:cNvPr id="9" name="Commander-hp">
            <a:extLst xmlns:a="http://schemas.openxmlformats.org/drawingml/2006/main">
              <a:ext uri="{FF2B5EF4-FFF2-40B4-BE49-F238E27FC236}">
                <a16:creationId xmlns:a16="http://schemas.microsoft.com/office/drawing/2014/main" id="{74887E5F-9313-4DC8-B1FE-E958A109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244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HP 150</a:t>
            </a:r>
          </a:p>
        </p:txBody>
      </p:sp>
      <p:sp>
        <p:nvSpPr>
          <p:cNvPr id="10" name="Commander-atk">
            <a:extLst xmlns:a="http://schemas.openxmlformats.org/drawingml/2006/main">
              <a:ext uri="{FF2B5EF4-FFF2-40B4-BE49-F238E27FC236}">
                <a16:creationId xmlns:a16="http://schemas.microsoft.com/office/drawing/2014/main" id="{22EE5163-FD2F-4409-9D2A-25A5F87E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244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ATK 20</a:t>
            </a:r>
          </a:p>
        </p:txBody>
      </p:sp>
      <p:sp>
        <p:nvSpPr>
          <p:cNvPr id="11" name="Commander-move">
            <a:extLst xmlns:a="http://schemas.openxmlformats.org/drawingml/2006/main">
              <a:ext uri="{FF2B5EF4-FFF2-40B4-BE49-F238E27FC236}">
                <a16:creationId xmlns:a16="http://schemas.microsoft.com/office/drawing/2014/main" id="{4E777AB7-507A-4A29-8586-9CF87ECC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Move 2</a:t>
            </a:r>
          </a:p>
        </p:txBody>
      </p:sp>
      <p:sp>
        <p:nvSpPr>
          <p:cNvPr id="12" name="Commander-range">
            <a:extLst xmlns:a="http://schemas.openxmlformats.org/drawingml/2006/main">
              <a:ext uri="{FF2B5EF4-FFF2-40B4-BE49-F238E27FC236}">
                <a16:creationId xmlns:a16="http://schemas.microsoft.com/office/drawing/2014/main" id="{18B85632-B694-4582-BBD2-7A7D644B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10150"/>
            <a:ext cx="49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Range 1</a:t>
            </a:r>
          </a:p>
        </p:txBody>
      </p:sp>
      <p:sp>
        <p:nvSpPr>
          <p:cNvPr id="13" name="Commander-cost">
            <a:extLst xmlns:a="http://schemas.openxmlformats.org/drawingml/2006/main">
              <a:ext uri="{FF2B5EF4-FFF2-40B4-BE49-F238E27FC236}">
                <a16:creationId xmlns:a16="http://schemas.microsoft.com/office/drawing/2014/main" id="{54DC90DE-1532-4AEB-84E7-05F7A4FB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01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Cost 1</a:t>
            </a:r>
          </a:p>
        </p:txBody>
      </p:sp>
      <p:sp>
        <p:nvSpPr>
          <p:cNvPr id="14" name="Warrior-roster-cell">
            <a:extLst xmlns:a="http://schemas.openxmlformats.org/drawingml/2006/main">
              <a:ext uri="{FF2B5EF4-FFF2-40B4-BE49-F238E27FC236}">
                <a16:creationId xmlns:a16="http://schemas.microsoft.com/office/drawing/2014/main" id="{A039CEE9-8662-4D8A-BFBC-6298A7AF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522220"/>
            <a:ext cx="5461000" cy="3482340"/>
          </a:xfrm>
          <a:prstGeom xmlns:a="http://schemas.openxmlformats.org/drawingml/2006/main" prst="roundRect">
            <a:avLst>
              <a:gd name="adj" fmla="val 547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pic>
        <p:nvPicPr>
          <p:cNvPr id="15" name="Warrio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5589c79764dea"/>
          <a:stretch xmlns:a="http://schemas.openxmlformats.org/drawingml/2006/main"/>
        </p:blipFill>
        <p:spPr>
          <a:xfrm xmlns:a="http://schemas.openxmlformats.org/drawingml/2006/main">
            <a:off x="8553450" y="2731770"/>
            <a:ext cx="1181100" cy="1181100"/>
          </a:xfrm>
          <a:prstGeom xmlns:a="http://schemas.openxmlformats.org/drawingml/2006/main" prst="rect">
            <a:avLst/>
          </a:prstGeom>
        </p:spPr>
      </p:pic>
      <p:sp>
        <p:nvSpPr>
          <p:cNvPr id="16" name="Warrior-name">
            <a:extLst xmlns:a="http://schemas.openxmlformats.org/drawingml/2006/main">
              <a:ext uri="{FF2B5EF4-FFF2-40B4-BE49-F238E27FC236}">
                <a16:creationId xmlns:a16="http://schemas.microsoft.com/office/drawing/2014/main" id="{56C6F51C-BA00-4BAF-BF7F-02BA3EB1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6"/>
                </a:solidFill>
              </a:defRPr>
            </a:pPr>
            <a:r>
              <a:rPr sz="2325" b="1">
                <a:solidFill>
                  <a:srgbClr val="172126"/>
                </a:solidFill>
              </a:rPr>
              <a:t>Warrior</a:t>
            </a:r>
          </a:p>
        </p:txBody>
      </p:sp>
      <p:sp>
        <p:nvSpPr>
          <p:cNvPr id="17" name="Warrior-role">
            <a:extLst xmlns:a="http://schemas.openxmlformats.org/drawingml/2006/main">
              <a:ext uri="{FF2B5EF4-FFF2-40B4-BE49-F238E27FC236}">
                <a16:creationId xmlns:a16="http://schemas.microsoft.com/office/drawing/2014/main" id="{CE15811E-E6C5-4157-9EB5-9B5E3F02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A553B"/>
                </a:solidFill>
              </a:defRPr>
            </a:pPr>
            <a:r>
              <a:rPr sz="1275" b="1">
                <a:solidFill>
                  <a:srgbClr val="7A553B"/>
                </a:solidFill>
              </a:rPr>
              <a:t>Frontline</a:t>
            </a:r>
          </a:p>
        </p:txBody>
      </p:sp>
      <p:sp>
        <p:nvSpPr>
          <p:cNvPr id="18" name="Warrior-hp">
            <a:extLst xmlns:a="http://schemas.openxmlformats.org/drawingml/2006/main">
              <a:ext uri="{FF2B5EF4-FFF2-40B4-BE49-F238E27FC236}">
                <a16:creationId xmlns:a16="http://schemas.microsoft.com/office/drawing/2014/main" id="{F341BCEA-749A-4F94-A1EC-614CA73F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244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HP 100</a:t>
            </a:r>
          </a:p>
        </p:txBody>
      </p:sp>
      <p:sp>
        <p:nvSpPr>
          <p:cNvPr id="19" name="Warrior-atk">
            <a:extLst xmlns:a="http://schemas.openxmlformats.org/drawingml/2006/main">
              <a:ext uri="{FF2B5EF4-FFF2-40B4-BE49-F238E27FC236}">
                <a16:creationId xmlns:a16="http://schemas.microsoft.com/office/drawing/2014/main" id="{19E29758-CC8C-4669-B470-B0379040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244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ATK 40</a:t>
            </a:r>
          </a:p>
        </p:txBody>
      </p:sp>
      <p:sp>
        <p:nvSpPr>
          <p:cNvPr id="20" name="Warrior-move">
            <a:extLst xmlns:a="http://schemas.openxmlformats.org/drawingml/2006/main">
              <a:ext uri="{FF2B5EF4-FFF2-40B4-BE49-F238E27FC236}">
                <a16:creationId xmlns:a16="http://schemas.microsoft.com/office/drawing/2014/main" id="{6DF3F72A-7387-4D34-B38A-1B10C7A2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054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Move 2</a:t>
            </a:r>
          </a:p>
        </p:txBody>
      </p:sp>
      <p:sp>
        <p:nvSpPr>
          <p:cNvPr id="21" name="Warrior-range">
            <a:extLst xmlns:a="http://schemas.openxmlformats.org/drawingml/2006/main">
              <a:ext uri="{FF2B5EF4-FFF2-40B4-BE49-F238E27FC236}">
                <a16:creationId xmlns:a16="http://schemas.microsoft.com/office/drawing/2014/main" id="{D7278462-AC2A-4FEF-967A-DFBD2498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10150"/>
            <a:ext cx="49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Range 1</a:t>
            </a:r>
          </a:p>
        </p:txBody>
      </p:sp>
      <p:sp>
        <p:nvSpPr>
          <p:cNvPr id="22" name="Warrior-cost">
            <a:extLst xmlns:a="http://schemas.openxmlformats.org/drawingml/2006/main">
              <a:ext uri="{FF2B5EF4-FFF2-40B4-BE49-F238E27FC236}">
                <a16:creationId xmlns:a16="http://schemas.microsoft.com/office/drawing/2014/main" id="{10AF24EF-F887-4D95-8FFA-F6B972E7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101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Cost 2</a:t>
            </a:r>
          </a:p>
        </p:txBody>
      </p:sp>
      <p:sp>
        <p:nvSpPr>
          <p:cNvPr id="23" name="Archer-roster-cell">
            <a:extLst xmlns:a="http://schemas.openxmlformats.org/drawingml/2006/main">
              <a:ext uri="{FF2B5EF4-FFF2-40B4-BE49-F238E27FC236}">
                <a16:creationId xmlns:a16="http://schemas.microsoft.com/office/drawing/2014/main" id="{D7FB3470-5419-4CB1-987C-DE738750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522220"/>
            <a:ext cx="5461000" cy="3482340"/>
          </a:xfrm>
          <a:prstGeom xmlns:a="http://schemas.openxmlformats.org/drawingml/2006/main" prst="roundRect">
            <a:avLst>
              <a:gd name="adj" fmla="val 547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pic>
        <p:nvPicPr>
          <p:cNvPr id="24" name="Arche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81df6822f4b39"/>
          <a:stretch xmlns:a="http://schemas.openxmlformats.org/drawingml/2006/main"/>
        </p:blipFill>
        <p:spPr>
          <a:xfrm xmlns:a="http://schemas.openxmlformats.org/drawingml/2006/main">
            <a:off x="14249400" y="2731770"/>
            <a:ext cx="1181100" cy="1181100"/>
          </a:xfrm>
          <a:prstGeom xmlns:a="http://schemas.openxmlformats.org/drawingml/2006/main" prst="rect">
            <a:avLst/>
          </a:prstGeom>
        </p:spPr>
      </p:pic>
      <p:sp>
        <p:nvSpPr>
          <p:cNvPr id="25" name="Archer-name">
            <a:extLst xmlns:a="http://schemas.openxmlformats.org/drawingml/2006/main">
              <a:ext uri="{FF2B5EF4-FFF2-40B4-BE49-F238E27FC236}">
                <a16:creationId xmlns:a16="http://schemas.microsoft.com/office/drawing/2014/main" id="{9CAD8CC0-02F4-4130-9FA8-CB48BB7D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0050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6"/>
                </a:solidFill>
              </a:defRPr>
            </a:pPr>
            <a:r>
              <a:rPr sz="2325" b="1">
                <a:solidFill>
                  <a:srgbClr val="172126"/>
                </a:solidFill>
              </a:rPr>
              <a:t>Archer</a:t>
            </a:r>
          </a:p>
        </p:txBody>
      </p:sp>
      <p:sp>
        <p:nvSpPr>
          <p:cNvPr id="26" name="Archer-role">
            <a:extLst xmlns:a="http://schemas.openxmlformats.org/drawingml/2006/main">
              <a:ext uri="{FF2B5EF4-FFF2-40B4-BE49-F238E27FC236}">
                <a16:creationId xmlns:a16="http://schemas.microsoft.com/office/drawing/2014/main" id="{666F29AC-B13A-497A-ACB3-3249C9E1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4386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C8167"/>
                </a:solidFill>
              </a:defRPr>
            </a:pPr>
            <a:r>
              <a:rPr sz="1275" b="1">
                <a:solidFill>
                  <a:srgbClr val="3C8167"/>
                </a:solidFill>
              </a:rPr>
              <a:t>Pressure</a:t>
            </a:r>
          </a:p>
        </p:txBody>
      </p:sp>
      <p:sp>
        <p:nvSpPr>
          <p:cNvPr id="27" name="Archer-hp">
            <a:extLst xmlns:a="http://schemas.openxmlformats.org/drawingml/2006/main">
              <a:ext uri="{FF2B5EF4-FFF2-40B4-BE49-F238E27FC236}">
                <a16:creationId xmlns:a16="http://schemas.microsoft.com/office/drawing/2014/main" id="{7275A943-143C-4D59-B3F9-86B4672B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470535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HP 80</a:t>
            </a:r>
          </a:p>
        </p:txBody>
      </p:sp>
      <p:sp>
        <p:nvSpPr>
          <p:cNvPr id="28" name="Archer-atk">
            <a:extLst xmlns:a="http://schemas.openxmlformats.org/drawingml/2006/main">
              <a:ext uri="{FF2B5EF4-FFF2-40B4-BE49-F238E27FC236}">
                <a16:creationId xmlns:a16="http://schemas.microsoft.com/office/drawing/2014/main" id="{27C473B3-A273-49AB-9F49-E3E9E09E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48196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ATK 20</a:t>
            </a:r>
          </a:p>
        </p:txBody>
      </p:sp>
      <p:sp>
        <p:nvSpPr>
          <p:cNvPr id="29" name="Archer-move">
            <a:extLst xmlns:a="http://schemas.openxmlformats.org/drawingml/2006/main">
              <a:ext uri="{FF2B5EF4-FFF2-40B4-BE49-F238E27FC236}">
                <a16:creationId xmlns:a16="http://schemas.microsoft.com/office/drawing/2014/main" id="{E976E63F-7DBD-4B00-9C06-7C15099F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52959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Move 2</a:t>
            </a:r>
          </a:p>
        </p:txBody>
      </p:sp>
      <p:sp>
        <p:nvSpPr>
          <p:cNvPr id="30" name="Archer-range">
            <a:extLst xmlns:a="http://schemas.openxmlformats.org/drawingml/2006/main">
              <a:ext uri="{FF2B5EF4-FFF2-40B4-BE49-F238E27FC236}">
                <a16:creationId xmlns:a16="http://schemas.microsoft.com/office/drawing/2014/main" id="{13D18E2B-2376-47DE-B0B2-F45AB653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5200650"/>
            <a:ext cx="49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Range 4</a:t>
            </a:r>
          </a:p>
        </p:txBody>
      </p:sp>
      <p:sp>
        <p:nvSpPr>
          <p:cNvPr id="31" name="Archer-cost">
            <a:extLst xmlns:a="http://schemas.openxmlformats.org/drawingml/2006/main">
              <a:ext uri="{FF2B5EF4-FFF2-40B4-BE49-F238E27FC236}">
                <a16:creationId xmlns:a16="http://schemas.microsoft.com/office/drawing/2014/main" id="{A6604B27-06D5-4B7B-94CD-CE25BB8C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52006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Cost 2</a:t>
            </a:r>
          </a:p>
        </p:txBody>
      </p:sp>
      <p:sp>
        <p:nvSpPr>
          <p:cNvPr id="32" name="Healer-roster-cell">
            <a:extLst xmlns:a="http://schemas.openxmlformats.org/drawingml/2006/main">
              <a:ext uri="{FF2B5EF4-FFF2-40B4-BE49-F238E27FC236}">
                <a16:creationId xmlns:a16="http://schemas.microsoft.com/office/drawing/2014/main" id="{02DF7BB4-546F-4D47-8236-FD6F9E53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33160"/>
            <a:ext cx="5461000" cy="3482340"/>
          </a:xfrm>
          <a:prstGeom xmlns:a="http://schemas.openxmlformats.org/drawingml/2006/main" prst="roundRect">
            <a:avLst>
              <a:gd name="adj" fmla="val 547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pic>
        <p:nvPicPr>
          <p:cNvPr id="33" name="Heale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b47d06bc04541"/>
          <a:stretch xmlns:a="http://schemas.openxmlformats.org/drawingml/2006/main"/>
        </p:blipFill>
        <p:spPr>
          <a:xfrm xmlns:a="http://schemas.openxmlformats.org/drawingml/2006/main">
            <a:off x="2857500" y="6442710"/>
            <a:ext cx="1181100" cy="1181100"/>
          </a:xfrm>
          <a:prstGeom xmlns:a="http://schemas.openxmlformats.org/drawingml/2006/main" prst="rect">
            <a:avLst/>
          </a:prstGeom>
        </p:spPr>
      </p:pic>
      <p:sp>
        <p:nvSpPr>
          <p:cNvPr id="34" name="Healer-name">
            <a:extLst xmlns:a="http://schemas.openxmlformats.org/drawingml/2006/main">
              <a:ext uri="{FF2B5EF4-FFF2-40B4-BE49-F238E27FC236}">
                <a16:creationId xmlns:a16="http://schemas.microsoft.com/office/drawing/2014/main" id="{53A4AE70-FDE7-489F-B7AB-4A50A3D9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7152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6"/>
                </a:solidFill>
              </a:defRPr>
            </a:pPr>
            <a:r>
              <a:rPr sz="2325" b="1">
                <a:solidFill>
                  <a:srgbClr val="172126"/>
                </a:solidFill>
              </a:rPr>
              <a:t>Healer</a:t>
            </a:r>
          </a:p>
        </p:txBody>
      </p:sp>
      <p:sp>
        <p:nvSpPr>
          <p:cNvPr id="35" name="Healer-role">
            <a:extLst xmlns:a="http://schemas.openxmlformats.org/drawingml/2006/main">
              <a:ext uri="{FF2B5EF4-FFF2-40B4-BE49-F238E27FC236}">
                <a16:creationId xmlns:a16="http://schemas.microsoft.com/office/drawing/2014/main" id="{39275605-9B8B-4D7F-989C-C2299D7F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3A99A"/>
                </a:solidFill>
              </a:defRPr>
            </a:pPr>
            <a:r>
              <a:rPr sz="1275" b="1">
                <a:solidFill>
                  <a:srgbClr val="43A99A"/>
                </a:solidFill>
              </a:rPr>
              <a:t>Support</a:t>
            </a:r>
          </a:p>
        </p:txBody>
      </p:sp>
      <p:sp>
        <p:nvSpPr>
          <p:cNvPr id="36" name="Healer-hp">
            <a:extLst xmlns:a="http://schemas.openxmlformats.org/drawingml/2006/main">
              <a:ext uri="{FF2B5EF4-FFF2-40B4-BE49-F238E27FC236}">
                <a16:creationId xmlns:a16="http://schemas.microsoft.com/office/drawing/2014/main" id="{BD89167A-489B-42FF-9618-9D6D323C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842010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HP 80</a:t>
            </a:r>
          </a:p>
        </p:txBody>
      </p:sp>
      <p:sp>
        <p:nvSpPr>
          <p:cNvPr id="37" name="Healer-atk">
            <a:extLst xmlns:a="http://schemas.openxmlformats.org/drawingml/2006/main">
              <a:ext uri="{FF2B5EF4-FFF2-40B4-BE49-F238E27FC236}">
                <a16:creationId xmlns:a16="http://schemas.microsoft.com/office/drawing/2014/main" id="{1ADACB7E-FDF6-4F5F-827C-CECF34F0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85344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ATK 30</a:t>
            </a:r>
          </a:p>
        </p:txBody>
      </p:sp>
      <p:sp>
        <p:nvSpPr>
          <p:cNvPr id="38" name="Healer-move">
            <a:extLst xmlns:a="http://schemas.openxmlformats.org/drawingml/2006/main">
              <a:ext uri="{FF2B5EF4-FFF2-40B4-BE49-F238E27FC236}">
                <a16:creationId xmlns:a16="http://schemas.microsoft.com/office/drawing/2014/main" id="{A30EAE3E-FE64-4258-9580-29D3F1D0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90106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Move 3</a:t>
            </a:r>
          </a:p>
        </p:txBody>
      </p:sp>
      <p:sp>
        <p:nvSpPr>
          <p:cNvPr id="39" name="Healer-range">
            <a:extLst xmlns:a="http://schemas.openxmlformats.org/drawingml/2006/main">
              <a:ext uri="{FF2B5EF4-FFF2-40B4-BE49-F238E27FC236}">
                <a16:creationId xmlns:a16="http://schemas.microsoft.com/office/drawing/2014/main" id="{825F1EF9-361A-4938-AB05-DD5E914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915400"/>
            <a:ext cx="49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Range 3</a:t>
            </a:r>
          </a:p>
        </p:txBody>
      </p:sp>
      <p:sp>
        <p:nvSpPr>
          <p:cNvPr id="40" name="Healer-cost">
            <a:extLst xmlns:a="http://schemas.openxmlformats.org/drawingml/2006/main">
              <a:ext uri="{FF2B5EF4-FFF2-40B4-BE49-F238E27FC236}">
                <a16:creationId xmlns:a16="http://schemas.microsoft.com/office/drawing/2014/main" id="{0B1C782A-B96B-48CE-A8F4-24F8246A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9154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Cost 2</a:t>
            </a:r>
          </a:p>
        </p:txBody>
      </p:sp>
      <p:sp>
        <p:nvSpPr>
          <p:cNvPr id="41" name="Trebuchet-roster-cell">
            <a:extLst xmlns:a="http://schemas.openxmlformats.org/drawingml/2006/main">
              <a:ext uri="{FF2B5EF4-FFF2-40B4-BE49-F238E27FC236}">
                <a16:creationId xmlns:a16="http://schemas.microsoft.com/office/drawing/2014/main" id="{91CB053F-820F-4237-9EF6-02B55F5B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6233160"/>
            <a:ext cx="5461000" cy="3482340"/>
          </a:xfrm>
          <a:prstGeom xmlns:a="http://schemas.openxmlformats.org/drawingml/2006/main" prst="roundRect">
            <a:avLst>
              <a:gd name="adj" fmla="val 547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pic>
        <p:nvPicPr>
          <p:cNvPr id="42" name="Trebuchet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27d395e05460b"/>
          <a:stretch xmlns:a="http://schemas.openxmlformats.org/drawingml/2006/main"/>
        </p:blipFill>
        <p:spPr>
          <a:xfrm xmlns:a="http://schemas.openxmlformats.org/drawingml/2006/main">
            <a:off x="8553450" y="6442710"/>
            <a:ext cx="1181100" cy="1181100"/>
          </a:xfrm>
          <a:prstGeom xmlns:a="http://schemas.openxmlformats.org/drawingml/2006/main" prst="rect">
            <a:avLst/>
          </a:prstGeom>
        </p:spPr>
      </p:pic>
      <p:sp>
        <p:nvSpPr>
          <p:cNvPr id="43" name="Trebuchet-name">
            <a:extLst xmlns:a="http://schemas.openxmlformats.org/drawingml/2006/main">
              <a:ext uri="{FF2B5EF4-FFF2-40B4-BE49-F238E27FC236}">
                <a16:creationId xmlns:a16="http://schemas.microsoft.com/office/drawing/2014/main" id="{37B07071-6629-4AC7-A5D5-10243238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7152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6"/>
                </a:solidFill>
              </a:defRPr>
            </a:pPr>
            <a:r>
              <a:rPr sz="2325" b="1">
                <a:solidFill>
                  <a:srgbClr val="172126"/>
                </a:solidFill>
              </a:rPr>
              <a:t>Trebuchet</a:t>
            </a:r>
          </a:p>
        </p:txBody>
      </p:sp>
      <p:sp>
        <p:nvSpPr>
          <p:cNvPr id="44" name="Trebuchet-role">
            <a:extLst xmlns:a="http://schemas.openxmlformats.org/drawingml/2006/main">
              <a:ext uri="{FF2B5EF4-FFF2-40B4-BE49-F238E27FC236}">
                <a16:creationId xmlns:a16="http://schemas.microsoft.com/office/drawing/2014/main" id="{135E4557-6810-4D07-BCA3-E9F76470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1534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737"/>
                </a:solidFill>
              </a:defRPr>
            </a:pPr>
            <a:r>
              <a:rPr sz="1275" b="1">
                <a:solidFill>
                  <a:srgbClr val="B84737"/>
                </a:solidFill>
              </a:rPr>
              <a:t>Siege</a:t>
            </a:r>
          </a:p>
        </p:txBody>
      </p:sp>
      <p:sp>
        <p:nvSpPr>
          <p:cNvPr id="45" name="Trebuchet-hp">
            <a:extLst xmlns:a="http://schemas.openxmlformats.org/drawingml/2006/main">
              <a:ext uri="{FF2B5EF4-FFF2-40B4-BE49-F238E27FC236}">
                <a16:creationId xmlns:a16="http://schemas.microsoft.com/office/drawing/2014/main" id="{788B5893-6B4D-451D-BC40-F6D6DDFA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842010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HP 70</a:t>
            </a:r>
          </a:p>
        </p:txBody>
      </p:sp>
      <p:sp>
        <p:nvSpPr>
          <p:cNvPr id="46" name="Trebuchet-atk">
            <a:extLst xmlns:a="http://schemas.openxmlformats.org/drawingml/2006/main">
              <a:ext uri="{FF2B5EF4-FFF2-40B4-BE49-F238E27FC236}">
                <a16:creationId xmlns:a16="http://schemas.microsoft.com/office/drawing/2014/main" id="{35E8F4D2-8E22-4F2D-BB88-806AFA1B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5344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ATK 20</a:t>
            </a:r>
          </a:p>
        </p:txBody>
      </p:sp>
      <p:sp>
        <p:nvSpPr>
          <p:cNvPr id="47" name="Trebuchet-move">
            <a:extLst xmlns:a="http://schemas.openxmlformats.org/drawingml/2006/main">
              <a:ext uri="{FF2B5EF4-FFF2-40B4-BE49-F238E27FC236}">
                <a16:creationId xmlns:a16="http://schemas.microsoft.com/office/drawing/2014/main" id="{E8E29EDE-2134-4443-A6C0-913D80AE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90106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Move 1</a:t>
            </a:r>
          </a:p>
        </p:txBody>
      </p:sp>
      <p:sp>
        <p:nvSpPr>
          <p:cNvPr id="48" name="Trebuchet-range">
            <a:extLst xmlns:a="http://schemas.openxmlformats.org/drawingml/2006/main">
              <a:ext uri="{FF2B5EF4-FFF2-40B4-BE49-F238E27FC236}">
                <a16:creationId xmlns:a16="http://schemas.microsoft.com/office/drawing/2014/main" id="{7132D7A0-8218-4E53-BE63-DE1216D8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90106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Range 99</a:t>
            </a:r>
          </a:p>
        </p:txBody>
      </p:sp>
      <p:sp>
        <p:nvSpPr>
          <p:cNvPr id="49" name="Trebuchet-cost">
            <a:extLst xmlns:a="http://schemas.openxmlformats.org/drawingml/2006/main">
              <a:ext uri="{FF2B5EF4-FFF2-40B4-BE49-F238E27FC236}">
                <a16:creationId xmlns:a16="http://schemas.microsoft.com/office/drawing/2014/main" id="{FB4C33EF-976E-4E54-B3F1-0FA4BD8D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89154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Cost 3</a:t>
            </a:r>
          </a:p>
        </p:txBody>
      </p:sp>
      <p:sp>
        <p:nvSpPr>
          <p:cNvPr id="50" name="Viking-roster-cell">
            <a:extLst xmlns:a="http://schemas.openxmlformats.org/drawingml/2006/main">
              <a:ext uri="{FF2B5EF4-FFF2-40B4-BE49-F238E27FC236}">
                <a16:creationId xmlns:a16="http://schemas.microsoft.com/office/drawing/2014/main" id="{A195482C-BB63-47D6-91EC-19FF2E46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6233160"/>
            <a:ext cx="5461000" cy="3482340"/>
          </a:xfrm>
          <a:prstGeom xmlns:a="http://schemas.openxmlformats.org/drawingml/2006/main" prst="roundRect">
            <a:avLst>
              <a:gd name="adj" fmla="val 547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pic>
        <p:nvPicPr>
          <p:cNvPr id="51" name="Viking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a123caa264c20"/>
          <a:stretch xmlns:a="http://schemas.openxmlformats.org/drawingml/2006/main"/>
        </p:blipFill>
        <p:spPr>
          <a:xfrm xmlns:a="http://schemas.openxmlformats.org/drawingml/2006/main">
            <a:off x="14249400" y="6442710"/>
            <a:ext cx="1181100" cy="1181100"/>
          </a:xfrm>
          <a:prstGeom xmlns:a="http://schemas.openxmlformats.org/drawingml/2006/main" prst="rect">
            <a:avLst/>
          </a:prstGeom>
        </p:spPr>
      </p:pic>
      <p:sp>
        <p:nvSpPr>
          <p:cNvPr id="52" name="Viking-name">
            <a:extLst xmlns:a="http://schemas.openxmlformats.org/drawingml/2006/main">
              <a:ext uri="{FF2B5EF4-FFF2-40B4-BE49-F238E27FC236}">
                <a16:creationId xmlns:a16="http://schemas.microsoft.com/office/drawing/2014/main" id="{EFDA26D9-A38F-49A0-8B3C-B8B91E28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7152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6"/>
                </a:solidFill>
              </a:defRPr>
            </a:pPr>
            <a:r>
              <a:rPr sz="2325" b="1">
                <a:solidFill>
                  <a:srgbClr val="172126"/>
                </a:solidFill>
              </a:rPr>
              <a:t>Viking</a:t>
            </a:r>
          </a:p>
        </p:txBody>
      </p:sp>
      <p:sp>
        <p:nvSpPr>
          <p:cNvPr id="53" name="Viking-role">
            <a:extLst xmlns:a="http://schemas.openxmlformats.org/drawingml/2006/main">
              <a:ext uri="{FF2B5EF4-FFF2-40B4-BE49-F238E27FC236}">
                <a16:creationId xmlns:a16="http://schemas.microsoft.com/office/drawing/2014/main" id="{E2CC7BEC-3705-49EC-9FB1-C96F1F20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81534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6FA3"/>
                </a:solidFill>
              </a:defRPr>
            </a:pPr>
            <a:r>
              <a:rPr sz="1275" b="1">
                <a:solidFill>
                  <a:srgbClr val="2F6FA3"/>
                </a:solidFill>
              </a:rPr>
              <a:t>Burst</a:t>
            </a:r>
          </a:p>
        </p:txBody>
      </p:sp>
      <p:sp>
        <p:nvSpPr>
          <p:cNvPr id="54" name="Viking-hp">
            <a:extLst xmlns:a="http://schemas.openxmlformats.org/drawingml/2006/main">
              <a:ext uri="{FF2B5EF4-FFF2-40B4-BE49-F238E27FC236}">
                <a16:creationId xmlns:a16="http://schemas.microsoft.com/office/drawing/2014/main" id="{5D9A1D65-CA19-4F61-8227-64EBDA8E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842010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HP 90</a:t>
            </a:r>
          </a:p>
        </p:txBody>
      </p:sp>
      <p:sp>
        <p:nvSpPr>
          <p:cNvPr id="55" name="Viking-atk">
            <a:extLst xmlns:a="http://schemas.openxmlformats.org/drawingml/2006/main">
              <a:ext uri="{FF2B5EF4-FFF2-40B4-BE49-F238E27FC236}">
                <a16:creationId xmlns:a16="http://schemas.microsoft.com/office/drawing/2014/main" id="{3526CB80-CBD9-494B-8B2C-12E408CE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85344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ATK 60</a:t>
            </a:r>
          </a:p>
        </p:txBody>
      </p:sp>
      <p:sp>
        <p:nvSpPr>
          <p:cNvPr id="56" name="Viking-move">
            <a:extLst xmlns:a="http://schemas.openxmlformats.org/drawingml/2006/main">
              <a:ext uri="{FF2B5EF4-FFF2-40B4-BE49-F238E27FC236}">
                <a16:creationId xmlns:a16="http://schemas.microsoft.com/office/drawing/2014/main" id="{05B7C41E-9E86-49A0-97C4-C71A1B23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0106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Move 1</a:t>
            </a:r>
          </a:p>
        </p:txBody>
      </p:sp>
      <p:sp>
        <p:nvSpPr>
          <p:cNvPr id="57" name="Viking-range">
            <a:extLst xmlns:a="http://schemas.openxmlformats.org/drawingml/2006/main">
              <a:ext uri="{FF2B5EF4-FFF2-40B4-BE49-F238E27FC236}">
                <a16:creationId xmlns:a16="http://schemas.microsoft.com/office/drawing/2014/main" id="{933E4F6C-CF32-4D7D-84CD-4703203A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8915400"/>
            <a:ext cx="49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Range 1</a:t>
            </a:r>
          </a:p>
        </p:txBody>
      </p:sp>
      <p:sp>
        <p:nvSpPr>
          <p:cNvPr id="58" name="Viking-cost">
            <a:extLst xmlns:a="http://schemas.openxmlformats.org/drawingml/2006/main">
              <a:ext uri="{FF2B5EF4-FFF2-40B4-BE49-F238E27FC236}">
                <a16:creationId xmlns:a16="http://schemas.microsoft.com/office/drawing/2014/main" id="{1C2CEC44-65CE-4698-AAA3-2D9B45F4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89154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158"/>
                </a:solidFill>
              </a:defRPr>
            </a:pPr>
            <a:r>
              <a:rPr sz="1200">
                <a:solidFill>
                  <a:srgbClr val="405158"/>
                </a:solidFill>
              </a:rPr>
              <a:t>Cost 2</a:t>
            </a:r>
          </a:p>
        </p:txBody>
      </p:sp>
    </p:spTree>
    <p:extLst>
      <p:ext uri="{BB962C8B-B14F-4D97-AF65-F5344CB8AC3E}">
        <p14:creationId xmlns:p14="http://schemas.microsoft.com/office/powerpoint/2010/main" val="16280552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C7CDC73-B666-41F1-B8EE-28DC0D73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DE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E97BF27-81E7-4625-B0CF-22B94DD0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729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4737"/>
                </a:solidFill>
              </a:defRPr>
            </a:pPr>
            <a:r>
              <a:rPr sz="1650" b="1">
                <a:solidFill>
                  <a:srgbClr val="B84737"/>
                </a:solidFill>
              </a:rPr>
              <a:t>COMMAND ROLE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4A4CCF-510A-45CF-ABAF-B8BE7E23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7296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126"/>
                </a:solidFill>
              </a:defRPr>
            </a:pPr>
            <a:r>
              <a:rPr sz="4800" b="1">
                <a:solidFill>
                  <a:srgbClr val="172126"/>
                </a:solidFill>
              </a:rPr>
              <a:t>The Commander is the clock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289B87D-0223-418D-8932-45B9EC24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7296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05158"/>
                </a:solidFill>
              </a:defRPr>
            </a:pPr>
            <a:r>
              <a:rPr sz="2100">
                <a:solidFill>
                  <a:srgbClr val="405158"/>
                </a:solidFill>
              </a:rPr>
              <a:t>A commander does not need to top the damage chart. It needs to make every trade expensive.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70A3C-ED3D-403A-91E1-3A1D8591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8805"/>
            <a:ext cx="7295522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1E3BE"/>
          </a:solidFill>
        </p:spPr>
      </p:sp>
      <p:sp>
        <p:nvSpPr>
          <p:cNvPr id="6" name="commander-personality">
            <a:extLst xmlns:a="http://schemas.openxmlformats.org/drawingml/2006/main">
              <a:ext uri="{FF2B5EF4-FFF2-40B4-BE49-F238E27FC236}">
                <a16:creationId xmlns:a16="http://schemas.microsoft.com/office/drawing/2014/main" id="{37DBE2EA-15B7-4F24-901A-D545B0A9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676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A553B"/>
                </a:solidFill>
              </a:defRPr>
            </a:pPr>
            <a:r>
              <a:rPr sz="2250" b="1">
                <a:solidFill>
                  <a:srgbClr val="7A553B"/>
                </a:solidFill>
              </a:rPr>
              <a:t>Personality: patient, stubborn, and politically impossible to ignore.</a:t>
            </a:r>
          </a:p>
        </p:txBody>
      </p:sp>
      <p:sp>
        <p:nvSpPr>
          <p:cNvPr id="7" name="Commander-personality">
            <a:extLst xmlns:a="http://schemas.openxmlformats.org/drawingml/2006/main">
              <a:ext uri="{FF2B5EF4-FFF2-40B4-BE49-F238E27FC236}">
                <a16:creationId xmlns:a16="http://schemas.microsoft.com/office/drawing/2014/main" id="{20A0E52E-B9B0-424B-B298-79B15774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922" y="666750"/>
            <a:ext cx="8896978" cy="8953500"/>
          </a:xfrm>
          <a:prstGeom xmlns:a="http://schemas.openxmlformats.org/drawingml/2006/main" prst="roundRect">
            <a:avLst>
              <a:gd name="adj" fmla="val 192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38100">
            <a:solidFill>
              <a:srgbClr val="D8A642"/>
            </a:solidFill>
            <a:prstDash val="solid"/>
          </a:ln>
        </p:spPr>
      </p:sp>
      <p:pic>
        <p:nvPicPr>
          <p:cNvPr id="8" name="Commande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b1f07d2284362"/>
          <a:stretch xmlns:a="http://schemas.openxmlformats.org/drawingml/2006/main"/>
        </p:blipFill>
        <p:spPr>
          <a:xfrm xmlns:a="http://schemas.openxmlformats.org/drawingml/2006/main">
            <a:off x="8952872" y="4114800"/>
            <a:ext cx="2057400" cy="2057400"/>
          </a:xfrm>
          <a:prstGeom xmlns:a="http://schemas.openxmlformats.org/drawingml/2006/main" prst="rect">
            <a:avLst/>
          </a:prstGeom>
        </p:spPr>
      </p:pic>
      <p:sp>
        <p:nvSpPr>
          <p:cNvPr id="9" name="Commander-big-name">
            <a:extLst xmlns:a="http://schemas.openxmlformats.org/drawingml/2006/main">
              <a:ext uri="{FF2B5EF4-FFF2-40B4-BE49-F238E27FC236}">
                <a16:creationId xmlns:a16="http://schemas.microsoft.com/office/drawing/2014/main" id="{926BFA11-2442-4880-A6CF-5BCD968D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0"/>
            <a:ext cx="5791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6"/>
                </a:solidFill>
              </a:defRPr>
            </a:pPr>
            <a:r>
              <a:rPr sz="3900" b="1">
                <a:solidFill>
                  <a:srgbClr val="172126"/>
                </a:solidFill>
              </a:rPr>
              <a:t>Commander</a:t>
            </a:r>
          </a:p>
        </p:txBody>
      </p:sp>
      <p:sp>
        <p:nvSpPr>
          <p:cNvPr id="10" name="Commander-personality-line">
            <a:extLst xmlns:a="http://schemas.openxmlformats.org/drawingml/2006/main">
              <a:ext uri="{FF2B5EF4-FFF2-40B4-BE49-F238E27FC236}">
                <a16:creationId xmlns:a16="http://schemas.microsoft.com/office/drawing/2014/main" id="{9DCFC662-C768-48E7-AAA9-C42E34FF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248150"/>
            <a:ext cx="5791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8A642"/>
                </a:solidFill>
              </a:defRPr>
            </a:pPr>
            <a:r>
              <a:rPr sz="2175" b="1">
                <a:solidFill>
                  <a:srgbClr val="D8A642"/>
                </a:solidFill>
              </a:rPr>
              <a:t>Calm field general</a:t>
            </a:r>
          </a:p>
        </p:txBody>
      </p:sp>
      <p:sp>
        <p:nvSpPr>
          <p:cNvPr id="11" name="Commander-pitch">
            <a:extLst xmlns:a="http://schemas.openxmlformats.org/drawingml/2006/main">
              <a:ext uri="{FF2B5EF4-FFF2-40B4-BE49-F238E27FC236}">
                <a16:creationId xmlns:a16="http://schemas.microsoft.com/office/drawing/2014/main" id="{4E3E5289-FEF1-411F-A650-520F75DC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579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158"/>
                </a:solidFill>
              </a:defRPr>
            </a:pPr>
            <a:r>
              <a:rPr sz="1800">
                <a:solidFill>
                  <a:srgbClr val="405158"/>
                </a:solidFill>
              </a:rPr>
              <a:t>Wins by staying alive, holding tempo, and forcing the enemy to overextend.</a:t>
            </a:r>
          </a:p>
        </p:txBody>
      </p:sp>
      <p:sp>
        <p:nvSpPr>
          <p:cNvPr id="12" name="label-HP">
            <a:extLst xmlns:a="http://schemas.openxmlformats.org/drawingml/2006/main">
              <a:ext uri="{FF2B5EF4-FFF2-40B4-BE49-F238E27FC236}">
                <a16:creationId xmlns:a16="http://schemas.microsoft.com/office/drawing/2014/main" id="{219D3A97-C092-40F1-B306-34262852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HP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71099-433C-449F-8315-6DDFA669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0422" y="54673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AC1B5-8FBD-4528-9A8E-891ABB58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486400"/>
            <a:ext cx="2476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642"/>
          </a:solidFill>
        </p:spPr>
      </p:sp>
      <p:sp>
        <p:nvSpPr>
          <p:cNvPr id="15" name="value-HP">
            <a:extLst xmlns:a="http://schemas.openxmlformats.org/drawingml/2006/main">
              <a:ext uri="{FF2B5EF4-FFF2-40B4-BE49-F238E27FC236}">
                <a16:creationId xmlns:a16="http://schemas.microsoft.com/office/drawing/2014/main" id="{1E880668-501D-4040-B6BF-4F02D1DE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54102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A642"/>
                </a:solidFill>
              </a:defRPr>
            </a:pPr>
            <a:r>
              <a:rPr sz="1425" b="1">
                <a:solidFill>
                  <a:srgbClr val="D8A642"/>
                </a:solidFill>
              </a:rPr>
              <a:t>150</a:t>
            </a:r>
          </a:p>
        </p:txBody>
      </p:sp>
      <p:sp>
        <p:nvSpPr>
          <p:cNvPr id="16" name="label-ATK">
            <a:extLst xmlns:a="http://schemas.openxmlformats.org/drawingml/2006/main">
              <a:ext uri="{FF2B5EF4-FFF2-40B4-BE49-F238E27FC236}">
                <a16:creationId xmlns:a16="http://schemas.microsoft.com/office/drawing/2014/main" id="{A88B0E03-1E70-45BA-BBD5-023A72D1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7912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ATK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72626-360E-44ED-9F7C-A7ACCC97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0422" y="58293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0E8F3-B7B4-4CFB-BEAA-389AF785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67400"/>
            <a:ext cx="8286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642"/>
          </a:solidFill>
        </p:spPr>
      </p:sp>
      <p:sp>
        <p:nvSpPr>
          <p:cNvPr id="19" name="value-ATK">
            <a:extLst xmlns:a="http://schemas.openxmlformats.org/drawingml/2006/main">
              <a:ext uri="{FF2B5EF4-FFF2-40B4-BE49-F238E27FC236}">
                <a16:creationId xmlns:a16="http://schemas.microsoft.com/office/drawing/2014/main" id="{B3F64E44-585E-4FB4-881C-B7D53D4A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57721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A642"/>
                </a:solidFill>
              </a:defRPr>
            </a:pPr>
            <a:r>
              <a:rPr sz="1425" b="1">
                <a:solidFill>
                  <a:srgbClr val="D8A642"/>
                </a:solidFill>
              </a:rPr>
              <a:t>20</a:t>
            </a:r>
          </a:p>
        </p:txBody>
      </p:sp>
      <p:sp>
        <p:nvSpPr>
          <p:cNvPr id="20" name="label-Move">
            <a:extLst xmlns:a="http://schemas.openxmlformats.org/drawingml/2006/main">
              <a:ext uri="{FF2B5EF4-FFF2-40B4-BE49-F238E27FC236}">
                <a16:creationId xmlns:a16="http://schemas.microsoft.com/office/drawing/2014/main" id="{AB9D957D-C889-4840-A238-076186C1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531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Move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56E48-5237-4453-8D05-49D6255E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0422" y="61912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C4AA4-0A60-422E-B8F6-703F8999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172200"/>
            <a:ext cx="16478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642"/>
          </a:solidFill>
        </p:spPr>
      </p:sp>
      <p:sp>
        <p:nvSpPr>
          <p:cNvPr id="23" name="value-Move">
            <a:extLst xmlns:a="http://schemas.openxmlformats.org/drawingml/2006/main">
              <a:ext uri="{FF2B5EF4-FFF2-40B4-BE49-F238E27FC236}">
                <a16:creationId xmlns:a16="http://schemas.microsoft.com/office/drawing/2014/main" id="{DFBF8B19-97D1-452E-B4EE-C18C38AD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61341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A642"/>
                </a:solidFill>
              </a:defRPr>
            </a:pPr>
            <a:r>
              <a:rPr sz="1425" b="1">
                <a:solidFill>
                  <a:srgbClr val="D8A642"/>
                </a:solidFill>
              </a:rPr>
              <a:t>2</a:t>
            </a:r>
          </a:p>
        </p:txBody>
      </p:sp>
      <p:sp>
        <p:nvSpPr>
          <p:cNvPr id="24" name="label-Range">
            <a:extLst xmlns:a="http://schemas.openxmlformats.org/drawingml/2006/main">
              <a:ext uri="{FF2B5EF4-FFF2-40B4-BE49-F238E27FC236}">
                <a16:creationId xmlns:a16="http://schemas.microsoft.com/office/drawing/2014/main" id="{EAE3688C-3213-4F44-A879-3122DC6F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Range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7780C9-2CB9-445A-A4B5-25710AB4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0422" y="65532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A98FB-1D6C-4FC1-A83F-D680282D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553200"/>
            <a:ext cx="5524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642"/>
          </a:solidFill>
        </p:spPr>
      </p:sp>
      <p:sp>
        <p:nvSpPr>
          <p:cNvPr id="27" name="value-Range">
            <a:extLst xmlns:a="http://schemas.openxmlformats.org/drawingml/2006/main">
              <a:ext uri="{FF2B5EF4-FFF2-40B4-BE49-F238E27FC236}">
                <a16:creationId xmlns:a16="http://schemas.microsoft.com/office/drawing/2014/main" id="{D6627C73-4E5E-4618-841D-0A74EE09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64960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A642"/>
                </a:solidFill>
              </a:defRPr>
            </a:pPr>
            <a:r>
              <a:rPr sz="1425" b="1">
                <a:solidFill>
                  <a:srgbClr val="D8A642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353888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88444E6-E23B-4056-8DCC-89D30050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DE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462316B-E185-485E-876E-FD5B29DA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4737"/>
                </a:solidFill>
              </a:defRPr>
            </a:pPr>
            <a:r>
              <a:rPr sz="1650" b="1">
                <a:solidFill>
                  <a:srgbClr val="B84737"/>
                </a:solidFill>
              </a:rPr>
              <a:t>FRONTLINE PERSONALITIES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BB5677-B1CF-4FE8-B404-10BB8C92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9650"/>
            <a:ext cx="166878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126"/>
                </a:solidFill>
              </a:defRPr>
            </a:pPr>
            <a:r>
              <a:rPr sz="4800" b="1">
                <a:solidFill>
                  <a:srgbClr val="172126"/>
                </a:solidFill>
              </a:rPr>
              <a:t>Warrior holds the door. Viking breaks it.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68368DD-8AB2-477B-8530-84E7E64E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05158"/>
                </a:solidFill>
              </a:defRPr>
            </a:pPr>
            <a:r>
              <a:rPr sz="2100">
                <a:solidFill>
                  <a:srgbClr val="405158"/>
                </a:solidFill>
              </a:rPr>
              <a:t>Both want melee contact, but they ask for different support.</a:t>
            </a:r>
          </a:p>
        </p:txBody>
      </p:sp>
      <p:sp>
        <p:nvSpPr>
          <p:cNvPr id="5" name="Warrior-personality">
            <a:extLst xmlns:a="http://schemas.openxmlformats.org/drawingml/2006/main">
              <a:ext uri="{FF2B5EF4-FFF2-40B4-BE49-F238E27FC236}">
                <a16:creationId xmlns:a16="http://schemas.microsoft.com/office/drawing/2014/main" id="{34DA2642-1BBA-491E-8E2A-0163C286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9370"/>
            <a:ext cx="8172450" cy="7098030"/>
          </a:xfrm>
          <a:prstGeom xmlns:a="http://schemas.openxmlformats.org/drawingml/2006/main" prst="roundRect">
            <a:avLst>
              <a:gd name="adj" fmla="val 2415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38100">
            <a:solidFill>
              <a:srgbClr val="7A553B"/>
            </a:solidFill>
            <a:prstDash val="solid"/>
          </a:ln>
        </p:spPr>
      </p:sp>
      <p:pic>
        <p:nvPicPr>
          <p:cNvPr id="6" name="Warrio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11b990061410b"/>
          <a:stretch xmlns:a="http://schemas.openxmlformats.org/drawingml/2006/main"/>
        </p:blipFill>
        <p:spPr>
          <a:xfrm xmlns:a="http://schemas.openxmlformats.org/drawingml/2006/main">
            <a:off x="1162050" y="5105400"/>
            <a:ext cx="2057400" cy="2057400"/>
          </a:xfrm>
          <a:prstGeom xmlns:a="http://schemas.openxmlformats.org/drawingml/2006/main" prst="rect">
            <a:avLst/>
          </a:prstGeom>
        </p:spPr>
      </p:pic>
      <p:sp>
        <p:nvSpPr>
          <p:cNvPr id="7" name="Warrior-big-name">
            <a:extLst xmlns:a="http://schemas.openxmlformats.org/drawingml/2006/main">
              <a:ext uri="{FF2B5EF4-FFF2-40B4-BE49-F238E27FC236}">
                <a16:creationId xmlns:a16="http://schemas.microsoft.com/office/drawing/2014/main" id="{102B1501-AACE-4A95-9C61-C41A91CB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14850"/>
            <a:ext cx="5067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6"/>
                </a:solidFill>
              </a:defRPr>
            </a:pPr>
            <a:r>
              <a:rPr sz="3900" b="1">
                <a:solidFill>
                  <a:srgbClr val="172126"/>
                </a:solidFill>
              </a:rPr>
              <a:t>Warrior</a:t>
            </a:r>
          </a:p>
        </p:txBody>
      </p:sp>
      <p:sp>
        <p:nvSpPr>
          <p:cNvPr id="8" name="Warrior-personality-line">
            <a:extLst xmlns:a="http://schemas.openxmlformats.org/drawingml/2006/main">
              <a:ext uri="{FF2B5EF4-FFF2-40B4-BE49-F238E27FC236}">
                <a16:creationId xmlns:a16="http://schemas.microsoft.com/office/drawing/2014/main" id="{74662A1C-6EB2-4951-BC60-FA817F5A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38750"/>
            <a:ext cx="506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A553B"/>
                </a:solidFill>
              </a:defRPr>
            </a:pPr>
            <a:r>
              <a:rPr sz="2175" b="1">
                <a:solidFill>
                  <a:srgbClr val="7A553B"/>
                </a:solidFill>
              </a:rPr>
              <a:t>Reliable shield-breaker</a:t>
            </a:r>
          </a:p>
        </p:txBody>
      </p:sp>
      <p:sp>
        <p:nvSpPr>
          <p:cNvPr id="9" name="Warrior-pitch">
            <a:extLst xmlns:a="http://schemas.openxmlformats.org/drawingml/2006/main">
              <a:ext uri="{FF2B5EF4-FFF2-40B4-BE49-F238E27FC236}">
                <a16:creationId xmlns:a16="http://schemas.microsoft.com/office/drawing/2014/main" id="{32C3389F-BB1F-4959-BB6A-DF47B4C6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15000"/>
            <a:ext cx="5067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158"/>
                </a:solidFill>
              </a:defRPr>
            </a:pPr>
            <a:r>
              <a:rPr sz="1800">
                <a:solidFill>
                  <a:srgbClr val="405158"/>
                </a:solidFill>
              </a:rPr>
              <a:t>Best when trading cleanly at the edge of a contested lane.</a:t>
            </a:r>
          </a:p>
        </p:txBody>
      </p:sp>
      <p:sp>
        <p:nvSpPr>
          <p:cNvPr id="10" name="label-HP">
            <a:extLst xmlns:a="http://schemas.openxmlformats.org/drawingml/2006/main">
              <a:ext uri="{FF2B5EF4-FFF2-40B4-BE49-F238E27FC236}">
                <a16:creationId xmlns:a16="http://schemas.microsoft.com/office/drawing/2014/main" id="{73659E84-60D9-4E4C-A033-EF2D9530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4198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HP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A6517-D3CA-45FF-B2E4-0BEEC550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4579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34609-D2B7-427F-82EF-F6B581D4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477000"/>
            <a:ext cx="16478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53B"/>
          </a:solidFill>
        </p:spPr>
      </p:sp>
      <p:sp>
        <p:nvSpPr>
          <p:cNvPr id="13" name="value-HP">
            <a:extLst xmlns:a="http://schemas.openxmlformats.org/drawingml/2006/main">
              <a:ext uri="{FF2B5EF4-FFF2-40B4-BE49-F238E27FC236}">
                <a16:creationId xmlns:a16="http://schemas.microsoft.com/office/drawing/2014/main" id="{5CB8C8AE-D62D-4A24-97F2-F73F763E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53B"/>
                </a:solidFill>
              </a:defRPr>
            </a:pPr>
            <a:r>
              <a:rPr sz="1425" b="1">
                <a:solidFill>
                  <a:srgbClr val="7A553B"/>
                </a:solidFill>
              </a:rPr>
              <a:t>100</a:t>
            </a:r>
          </a:p>
        </p:txBody>
      </p:sp>
      <p:sp>
        <p:nvSpPr>
          <p:cNvPr id="14" name="label-ATK">
            <a:extLst xmlns:a="http://schemas.openxmlformats.org/drawingml/2006/main">
              <a:ext uri="{FF2B5EF4-FFF2-40B4-BE49-F238E27FC236}">
                <a16:creationId xmlns:a16="http://schemas.microsoft.com/office/drawing/2014/main" id="{D9A200AB-272D-457A-819B-A441B936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7818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ATK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9CB66-4B57-43C9-B1E6-A7DDEB92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199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3BAB5-006E-4024-82FC-5CE46853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58000"/>
            <a:ext cx="16478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53B"/>
          </a:solidFill>
        </p:spPr>
      </p:sp>
      <p:sp>
        <p:nvSpPr>
          <p:cNvPr id="17" name="value-ATK">
            <a:extLst xmlns:a="http://schemas.openxmlformats.org/drawingml/2006/main">
              <a:ext uri="{FF2B5EF4-FFF2-40B4-BE49-F238E27FC236}">
                <a16:creationId xmlns:a16="http://schemas.microsoft.com/office/drawing/2014/main" id="{31E4D0F3-06C3-47BA-9F5C-8E475266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7627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53B"/>
                </a:solidFill>
              </a:defRPr>
            </a:pPr>
            <a:r>
              <a:rPr sz="1425" b="1">
                <a:solidFill>
                  <a:srgbClr val="7A553B"/>
                </a:solidFill>
              </a:rPr>
              <a:t>40</a:t>
            </a:r>
          </a:p>
        </p:txBody>
      </p:sp>
      <p:sp>
        <p:nvSpPr>
          <p:cNvPr id="18" name="label-Move">
            <a:extLst xmlns:a="http://schemas.openxmlformats.org/drawingml/2006/main">
              <a:ext uri="{FF2B5EF4-FFF2-40B4-BE49-F238E27FC236}">
                <a16:creationId xmlns:a16="http://schemas.microsoft.com/office/drawing/2014/main" id="{0BDD7025-292B-48A8-BB61-ECC3FD86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1437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Move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CDDBB-CD37-4B15-B462-B9B7BF0A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818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F3B8F-9F5E-4B9F-AB1F-83E3F1D4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62800"/>
            <a:ext cx="16478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53B"/>
          </a:solidFill>
        </p:spPr>
      </p:sp>
      <p:sp>
        <p:nvSpPr>
          <p:cNvPr id="21" name="value-Move">
            <a:extLst xmlns:a="http://schemas.openxmlformats.org/drawingml/2006/main">
              <a:ext uri="{FF2B5EF4-FFF2-40B4-BE49-F238E27FC236}">
                <a16:creationId xmlns:a16="http://schemas.microsoft.com/office/drawing/2014/main" id="{DBEA5B9D-F573-4315-9054-5C2948CE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247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53B"/>
                </a:solidFill>
              </a:defRPr>
            </a:pPr>
            <a:r>
              <a:rPr sz="1425" b="1">
                <a:solidFill>
                  <a:srgbClr val="7A553B"/>
                </a:solidFill>
              </a:rPr>
              <a:t>2</a:t>
            </a:r>
          </a:p>
        </p:txBody>
      </p:sp>
      <p:sp>
        <p:nvSpPr>
          <p:cNvPr id="22" name="label-Range">
            <a:extLst xmlns:a="http://schemas.openxmlformats.org/drawingml/2006/main">
              <a:ext uri="{FF2B5EF4-FFF2-40B4-BE49-F238E27FC236}">
                <a16:creationId xmlns:a16="http://schemas.microsoft.com/office/drawing/2014/main" id="{A9A33CD7-8157-4A52-86C6-E45AB9E7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5057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Range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98007-4508-447F-8C4D-79372DFB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5438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BB80D-1A4F-454A-AB82-A13C78D9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543800"/>
            <a:ext cx="5524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53B"/>
          </a:solidFill>
        </p:spPr>
      </p:sp>
      <p:sp>
        <p:nvSpPr>
          <p:cNvPr id="25" name="value-Range">
            <a:extLst xmlns:a="http://schemas.openxmlformats.org/drawingml/2006/main">
              <a:ext uri="{FF2B5EF4-FFF2-40B4-BE49-F238E27FC236}">
                <a16:creationId xmlns:a16="http://schemas.microsoft.com/office/drawing/2014/main" id="{FA67A30F-F05E-4C59-A097-D532A01F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486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53B"/>
                </a:solidFill>
              </a:defRPr>
            </a:pPr>
            <a:r>
              <a:rPr sz="1425" b="1">
                <a:solidFill>
                  <a:srgbClr val="7A553B"/>
                </a:solidFill>
              </a:rPr>
              <a:t>1</a:t>
            </a:r>
          </a:p>
        </p:txBody>
      </p:sp>
      <p:sp>
        <p:nvSpPr>
          <p:cNvPr id="26" name="Viking-personality">
            <a:extLst xmlns:a="http://schemas.openxmlformats.org/drawingml/2006/main">
              <a:ext uri="{FF2B5EF4-FFF2-40B4-BE49-F238E27FC236}">
                <a16:creationId xmlns:a16="http://schemas.microsoft.com/office/drawing/2014/main" id="{B8D9960E-23D1-47FF-B552-CF2DCEE2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9370"/>
            <a:ext cx="8172450" cy="7098030"/>
          </a:xfrm>
          <a:prstGeom xmlns:a="http://schemas.openxmlformats.org/drawingml/2006/main" prst="roundRect">
            <a:avLst>
              <a:gd name="adj" fmla="val 2415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38100">
            <a:solidFill>
              <a:srgbClr val="2F6FA3"/>
            </a:solidFill>
            <a:prstDash val="solid"/>
          </a:ln>
        </p:spPr>
      </p:sp>
      <p:pic>
        <p:nvPicPr>
          <p:cNvPr id="27" name="Viking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17b1043f6451e"/>
          <a:stretch xmlns:a="http://schemas.openxmlformats.org/drawingml/2006/main"/>
        </p:blipFill>
        <p:spPr>
          <a:xfrm xmlns:a="http://schemas.openxmlformats.org/drawingml/2006/main">
            <a:off x="9677400" y="5105400"/>
            <a:ext cx="2057400" cy="2057400"/>
          </a:xfrm>
          <a:prstGeom xmlns:a="http://schemas.openxmlformats.org/drawingml/2006/main" prst="rect">
            <a:avLst/>
          </a:prstGeom>
        </p:spPr>
      </p:pic>
      <p:sp>
        <p:nvSpPr>
          <p:cNvPr id="28" name="Viking-big-name">
            <a:extLst xmlns:a="http://schemas.openxmlformats.org/drawingml/2006/main">
              <a:ext uri="{FF2B5EF4-FFF2-40B4-BE49-F238E27FC236}">
                <a16:creationId xmlns:a16="http://schemas.microsoft.com/office/drawing/2014/main" id="{46264E8B-E2EC-46CE-A16C-35603D73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514850"/>
            <a:ext cx="5067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6"/>
                </a:solidFill>
              </a:defRPr>
            </a:pPr>
            <a:r>
              <a:rPr sz="3900" b="1">
                <a:solidFill>
                  <a:srgbClr val="172126"/>
                </a:solidFill>
              </a:rPr>
              <a:t>Viking</a:t>
            </a:r>
          </a:p>
        </p:txBody>
      </p:sp>
      <p:sp>
        <p:nvSpPr>
          <p:cNvPr id="29" name="Viking-personality-line">
            <a:extLst xmlns:a="http://schemas.openxmlformats.org/drawingml/2006/main">
              <a:ext uri="{FF2B5EF4-FFF2-40B4-BE49-F238E27FC236}">
                <a16:creationId xmlns:a16="http://schemas.microsoft.com/office/drawing/2014/main" id="{5E07082D-A7A8-43DC-9855-73DABAE4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238750"/>
            <a:ext cx="506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F6FA3"/>
                </a:solidFill>
              </a:defRPr>
            </a:pPr>
            <a:r>
              <a:rPr sz="2175" b="1">
                <a:solidFill>
                  <a:srgbClr val="2F6FA3"/>
                </a:solidFill>
              </a:rPr>
              <a:t>All-in closer</a:t>
            </a:r>
          </a:p>
        </p:txBody>
      </p:sp>
      <p:sp>
        <p:nvSpPr>
          <p:cNvPr id="30" name="Viking-pitch">
            <a:extLst xmlns:a="http://schemas.openxmlformats.org/drawingml/2006/main">
              <a:ext uri="{FF2B5EF4-FFF2-40B4-BE49-F238E27FC236}">
                <a16:creationId xmlns:a16="http://schemas.microsoft.com/office/drawing/2014/main" id="{994B7D1B-8F0A-4D9D-94ED-86071A4C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715000"/>
            <a:ext cx="5067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158"/>
                </a:solidFill>
              </a:defRPr>
            </a:pPr>
            <a:r>
              <a:rPr sz="1800">
                <a:solidFill>
                  <a:srgbClr val="405158"/>
                </a:solidFill>
              </a:rPr>
              <a:t>Short reach, enormous hit; needs lanes opened before committing.</a:t>
            </a:r>
          </a:p>
        </p:txBody>
      </p:sp>
      <p:sp>
        <p:nvSpPr>
          <p:cNvPr id="31" name="label-HP">
            <a:extLst xmlns:a="http://schemas.openxmlformats.org/drawingml/2006/main">
              <a:ext uri="{FF2B5EF4-FFF2-40B4-BE49-F238E27FC236}">
                <a16:creationId xmlns:a16="http://schemas.microsoft.com/office/drawing/2014/main" id="{987B5FAC-F860-4B75-BBD6-FE96DC6A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64198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HP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84F194-A7B6-4727-8FBA-87B3C198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4579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3E9A84-AEEC-4510-97E9-72F4A5D2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477000"/>
            <a:ext cx="14859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3"/>
          </a:solidFill>
        </p:spPr>
      </p:sp>
      <p:sp>
        <p:nvSpPr>
          <p:cNvPr id="34" name="value-HP">
            <a:extLst xmlns:a="http://schemas.openxmlformats.org/drawingml/2006/main">
              <a:ext uri="{FF2B5EF4-FFF2-40B4-BE49-F238E27FC236}">
                <a16:creationId xmlns:a16="http://schemas.microsoft.com/office/drawing/2014/main" id="{72045635-8464-44AE-8135-2645F0C4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FA3"/>
                </a:solidFill>
              </a:defRPr>
            </a:pPr>
            <a:r>
              <a:rPr sz="1425" b="1">
                <a:solidFill>
                  <a:srgbClr val="2F6FA3"/>
                </a:solidFill>
              </a:rPr>
              <a:t>90</a:t>
            </a:r>
          </a:p>
        </p:txBody>
      </p:sp>
      <p:sp>
        <p:nvSpPr>
          <p:cNvPr id="35" name="label-ATK">
            <a:extLst xmlns:a="http://schemas.openxmlformats.org/drawingml/2006/main">
              <a:ext uri="{FF2B5EF4-FFF2-40B4-BE49-F238E27FC236}">
                <a16:creationId xmlns:a16="http://schemas.microsoft.com/office/drawing/2014/main" id="{F896288C-F90F-47C1-862A-E116771B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67818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ATK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C704F4-376D-482F-98CB-6F49BDCA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8199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464CFF-EFD5-4C7D-85C5-1E804206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858000"/>
            <a:ext cx="2476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3"/>
          </a:solidFill>
        </p:spPr>
      </p:sp>
      <p:sp>
        <p:nvSpPr>
          <p:cNvPr id="38" name="value-ATK">
            <a:extLst xmlns:a="http://schemas.openxmlformats.org/drawingml/2006/main">
              <a:ext uri="{FF2B5EF4-FFF2-40B4-BE49-F238E27FC236}">
                <a16:creationId xmlns:a16="http://schemas.microsoft.com/office/drawing/2014/main" id="{BAB3A21E-E1DD-4D9F-ADB0-64004BF2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67627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FA3"/>
                </a:solidFill>
              </a:defRPr>
            </a:pPr>
            <a:r>
              <a:rPr sz="1425" b="1">
                <a:solidFill>
                  <a:srgbClr val="2F6FA3"/>
                </a:solidFill>
              </a:rPr>
              <a:t>60</a:t>
            </a:r>
          </a:p>
        </p:txBody>
      </p:sp>
      <p:sp>
        <p:nvSpPr>
          <p:cNvPr id="39" name="label-Move">
            <a:extLst xmlns:a="http://schemas.openxmlformats.org/drawingml/2006/main">
              <a:ext uri="{FF2B5EF4-FFF2-40B4-BE49-F238E27FC236}">
                <a16:creationId xmlns:a16="http://schemas.microsoft.com/office/drawing/2014/main" id="{2926833F-6C41-43AC-A348-3A53ACFD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1437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Move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BE610E-7D3B-4460-832B-4D9CD428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71818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8902DE-27A4-40E7-8FEC-2337A799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162800"/>
            <a:ext cx="8286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3"/>
          </a:solidFill>
        </p:spPr>
      </p:sp>
      <p:sp>
        <p:nvSpPr>
          <p:cNvPr id="42" name="value-Move">
            <a:extLst xmlns:a="http://schemas.openxmlformats.org/drawingml/2006/main">
              <a:ext uri="{FF2B5EF4-FFF2-40B4-BE49-F238E27FC236}">
                <a16:creationId xmlns:a16="http://schemas.microsoft.com/office/drawing/2014/main" id="{5050A524-1726-4830-95C1-8ED08C6C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71247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FA3"/>
                </a:solidFill>
              </a:defRPr>
            </a:pPr>
            <a:r>
              <a:rPr sz="1425" b="1">
                <a:solidFill>
                  <a:srgbClr val="2F6FA3"/>
                </a:solidFill>
              </a:rPr>
              <a:t>1</a:t>
            </a:r>
          </a:p>
        </p:txBody>
      </p:sp>
      <p:sp>
        <p:nvSpPr>
          <p:cNvPr id="43" name="label-Range">
            <a:extLst xmlns:a="http://schemas.openxmlformats.org/drawingml/2006/main">
              <a:ext uri="{FF2B5EF4-FFF2-40B4-BE49-F238E27FC236}">
                <a16:creationId xmlns:a16="http://schemas.microsoft.com/office/drawing/2014/main" id="{2C574D62-8412-434F-B38A-B948A55D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5057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Range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362116-AED2-4AE1-A989-132D4A0F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75438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9A1B98-648A-4BFE-B764-6CD2A810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543800"/>
            <a:ext cx="5524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3"/>
          </a:solidFill>
        </p:spPr>
      </p:sp>
      <p:sp>
        <p:nvSpPr>
          <p:cNvPr id="46" name="value-Range">
            <a:extLst xmlns:a="http://schemas.openxmlformats.org/drawingml/2006/main">
              <a:ext uri="{FF2B5EF4-FFF2-40B4-BE49-F238E27FC236}">
                <a16:creationId xmlns:a16="http://schemas.microsoft.com/office/drawing/2014/main" id="{97AEAC61-72B1-4F97-AF2E-972C4FDE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7486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FA3"/>
                </a:solidFill>
              </a:defRPr>
            </a:pPr>
            <a:r>
              <a:rPr sz="1425" b="1">
                <a:solidFill>
                  <a:srgbClr val="2F6FA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610060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F731560-8F9C-4D36-8DBD-21A7A43C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DE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307F793-30CC-44C7-9F4F-5317641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4737"/>
                </a:solidFill>
              </a:defRPr>
            </a:pPr>
            <a:r>
              <a:rPr sz="1650" b="1">
                <a:solidFill>
                  <a:srgbClr val="B84737"/>
                </a:solidFill>
              </a:rPr>
              <a:t>RANGED PERSONALITIES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27E746-7AA7-4A02-AB74-8A66500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9650"/>
            <a:ext cx="166878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126"/>
                </a:solidFill>
              </a:defRPr>
            </a:pPr>
            <a:r>
              <a:rPr sz="4800" b="1">
                <a:solidFill>
                  <a:srgbClr val="172126"/>
                </a:solidFill>
              </a:rPr>
              <a:t>Archer draws lines. Trebuchet redraws the map.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7941C1E-CDE5-4EF2-A656-3C4587C1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05158"/>
                </a:solidFill>
              </a:defRPr>
            </a:pPr>
            <a:r>
              <a:rPr sz="2100">
                <a:solidFill>
                  <a:srgbClr val="405158"/>
                </a:solidFill>
              </a:rPr>
              <a:t>Range is not only damage; it is a promise that some squares are unsafe.</a:t>
            </a:r>
          </a:p>
        </p:txBody>
      </p:sp>
      <p:sp>
        <p:nvSpPr>
          <p:cNvPr id="5" name="Archer-personality">
            <a:extLst xmlns:a="http://schemas.openxmlformats.org/drawingml/2006/main">
              <a:ext uri="{FF2B5EF4-FFF2-40B4-BE49-F238E27FC236}">
                <a16:creationId xmlns:a16="http://schemas.microsoft.com/office/drawing/2014/main" id="{EB4D0E04-8977-42E5-BBCE-05260D34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9370"/>
            <a:ext cx="8172450" cy="7098030"/>
          </a:xfrm>
          <a:prstGeom xmlns:a="http://schemas.openxmlformats.org/drawingml/2006/main" prst="roundRect">
            <a:avLst>
              <a:gd name="adj" fmla="val 2415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38100">
            <a:solidFill>
              <a:srgbClr val="3C8167"/>
            </a:solidFill>
            <a:prstDash val="solid"/>
          </a:ln>
        </p:spPr>
      </p:sp>
      <p:pic>
        <p:nvPicPr>
          <p:cNvPr id="6" name="Arche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9326c031b4fa6"/>
          <a:stretch xmlns:a="http://schemas.openxmlformats.org/drawingml/2006/main"/>
        </p:blipFill>
        <p:spPr>
          <a:xfrm xmlns:a="http://schemas.openxmlformats.org/drawingml/2006/main">
            <a:off x="1162050" y="5105400"/>
            <a:ext cx="2057400" cy="2057400"/>
          </a:xfrm>
          <a:prstGeom xmlns:a="http://schemas.openxmlformats.org/drawingml/2006/main" prst="rect">
            <a:avLst/>
          </a:prstGeom>
        </p:spPr>
      </p:pic>
      <p:sp>
        <p:nvSpPr>
          <p:cNvPr id="7" name="Archer-big-name">
            <a:extLst xmlns:a="http://schemas.openxmlformats.org/drawingml/2006/main">
              <a:ext uri="{FF2B5EF4-FFF2-40B4-BE49-F238E27FC236}">
                <a16:creationId xmlns:a16="http://schemas.microsoft.com/office/drawing/2014/main" id="{754BBC90-A8AB-432C-BDDD-EBCCEA30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14850"/>
            <a:ext cx="5067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6"/>
                </a:solidFill>
              </a:defRPr>
            </a:pPr>
            <a:r>
              <a:rPr sz="3900" b="1">
                <a:solidFill>
                  <a:srgbClr val="172126"/>
                </a:solidFill>
              </a:rPr>
              <a:t>Archer</a:t>
            </a:r>
          </a:p>
        </p:txBody>
      </p:sp>
      <p:sp>
        <p:nvSpPr>
          <p:cNvPr id="8" name="Archer-personality-line">
            <a:extLst xmlns:a="http://schemas.openxmlformats.org/drawingml/2006/main">
              <a:ext uri="{FF2B5EF4-FFF2-40B4-BE49-F238E27FC236}">
                <a16:creationId xmlns:a16="http://schemas.microsoft.com/office/drawing/2014/main" id="{D53EE80C-6EE2-4429-9902-9FD2FAE8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38750"/>
            <a:ext cx="506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8167"/>
                </a:solidFill>
              </a:defRPr>
            </a:pPr>
            <a:r>
              <a:rPr sz="2175" b="1">
                <a:solidFill>
                  <a:srgbClr val="3C8167"/>
                </a:solidFill>
              </a:rPr>
              <a:t>Patient lane controller</a:t>
            </a:r>
          </a:p>
        </p:txBody>
      </p:sp>
      <p:sp>
        <p:nvSpPr>
          <p:cNvPr id="9" name="Archer-pitch">
            <a:extLst xmlns:a="http://schemas.openxmlformats.org/drawingml/2006/main">
              <a:ext uri="{FF2B5EF4-FFF2-40B4-BE49-F238E27FC236}">
                <a16:creationId xmlns:a16="http://schemas.microsoft.com/office/drawing/2014/main" id="{11EA6F7A-11C1-46D3-B73B-9B634D0B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15000"/>
            <a:ext cx="5067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158"/>
                </a:solidFill>
              </a:defRPr>
            </a:pPr>
            <a:r>
              <a:rPr sz="1800">
                <a:solidFill>
                  <a:srgbClr val="405158"/>
                </a:solidFill>
              </a:rPr>
              <a:t>Controls space by threatening targets long before melee units arrive.</a:t>
            </a:r>
          </a:p>
        </p:txBody>
      </p:sp>
      <p:sp>
        <p:nvSpPr>
          <p:cNvPr id="10" name="label-HP">
            <a:extLst xmlns:a="http://schemas.openxmlformats.org/drawingml/2006/main">
              <a:ext uri="{FF2B5EF4-FFF2-40B4-BE49-F238E27FC236}">
                <a16:creationId xmlns:a16="http://schemas.microsoft.com/office/drawing/2014/main" id="{AD538FD1-F455-4DB2-AB0E-33406D53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4198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HP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BCC18-B9FE-43A6-9F8B-E6620ABC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4579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2E233-4B47-42DB-B5D0-165A1A6B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477000"/>
            <a:ext cx="13239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8167"/>
          </a:solidFill>
        </p:spPr>
      </p:sp>
      <p:sp>
        <p:nvSpPr>
          <p:cNvPr id="13" name="value-HP">
            <a:extLst xmlns:a="http://schemas.openxmlformats.org/drawingml/2006/main">
              <a:ext uri="{FF2B5EF4-FFF2-40B4-BE49-F238E27FC236}">
                <a16:creationId xmlns:a16="http://schemas.microsoft.com/office/drawing/2014/main" id="{F74D2C74-48A7-48FF-A861-75AA5C51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C8167"/>
                </a:solidFill>
              </a:defRPr>
            </a:pPr>
            <a:r>
              <a:rPr sz="1425" b="1">
                <a:solidFill>
                  <a:srgbClr val="3C8167"/>
                </a:solidFill>
              </a:rPr>
              <a:t>80</a:t>
            </a:r>
          </a:p>
        </p:txBody>
      </p:sp>
      <p:sp>
        <p:nvSpPr>
          <p:cNvPr id="14" name="label-ATK">
            <a:extLst xmlns:a="http://schemas.openxmlformats.org/drawingml/2006/main">
              <a:ext uri="{FF2B5EF4-FFF2-40B4-BE49-F238E27FC236}">
                <a16:creationId xmlns:a16="http://schemas.microsoft.com/office/drawing/2014/main" id="{42A3835A-E7BD-44D6-AC46-DC9DF503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7818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ATK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0FA90-24DA-4551-99FF-5D7D96C1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199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DB66F-90FF-4139-8C5A-39A8A93A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58000"/>
            <a:ext cx="8286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8167"/>
          </a:solidFill>
        </p:spPr>
      </p:sp>
      <p:sp>
        <p:nvSpPr>
          <p:cNvPr id="17" name="value-ATK">
            <a:extLst xmlns:a="http://schemas.openxmlformats.org/drawingml/2006/main">
              <a:ext uri="{FF2B5EF4-FFF2-40B4-BE49-F238E27FC236}">
                <a16:creationId xmlns:a16="http://schemas.microsoft.com/office/drawing/2014/main" id="{8CE70DD5-0AA2-4BF5-ADD9-CA673A70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7627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C8167"/>
                </a:solidFill>
              </a:defRPr>
            </a:pPr>
            <a:r>
              <a:rPr sz="1425" b="1">
                <a:solidFill>
                  <a:srgbClr val="3C8167"/>
                </a:solidFill>
              </a:rPr>
              <a:t>20</a:t>
            </a:r>
          </a:p>
        </p:txBody>
      </p:sp>
      <p:sp>
        <p:nvSpPr>
          <p:cNvPr id="18" name="label-Move">
            <a:extLst xmlns:a="http://schemas.openxmlformats.org/drawingml/2006/main">
              <a:ext uri="{FF2B5EF4-FFF2-40B4-BE49-F238E27FC236}">
                <a16:creationId xmlns:a16="http://schemas.microsoft.com/office/drawing/2014/main" id="{11D68932-1B8E-4268-B46E-8677A3AA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1437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Move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27C27-ABB7-40BC-BF66-2266A7DC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818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6A705F-FA8A-4AF4-9E4D-90D6AD1E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62800"/>
            <a:ext cx="16478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8167"/>
          </a:solidFill>
        </p:spPr>
      </p:sp>
      <p:sp>
        <p:nvSpPr>
          <p:cNvPr id="21" name="value-Move">
            <a:extLst xmlns:a="http://schemas.openxmlformats.org/drawingml/2006/main">
              <a:ext uri="{FF2B5EF4-FFF2-40B4-BE49-F238E27FC236}">
                <a16:creationId xmlns:a16="http://schemas.microsoft.com/office/drawing/2014/main" id="{F72CA413-B52C-42E9-BE21-844304E0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247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C8167"/>
                </a:solidFill>
              </a:defRPr>
            </a:pPr>
            <a:r>
              <a:rPr sz="1425" b="1">
                <a:solidFill>
                  <a:srgbClr val="3C8167"/>
                </a:solidFill>
              </a:rPr>
              <a:t>2</a:t>
            </a:r>
          </a:p>
        </p:txBody>
      </p:sp>
      <p:sp>
        <p:nvSpPr>
          <p:cNvPr id="22" name="label-Range">
            <a:extLst xmlns:a="http://schemas.openxmlformats.org/drawingml/2006/main">
              <a:ext uri="{FF2B5EF4-FFF2-40B4-BE49-F238E27FC236}">
                <a16:creationId xmlns:a16="http://schemas.microsoft.com/office/drawing/2014/main" id="{10F05DC4-74C5-4D01-8BEF-81B6286D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5057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Range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46F608-9763-4108-A117-5FC457A0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5438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792B47-17C5-4BF8-835C-AE93FF66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543800"/>
            <a:ext cx="16478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8167"/>
          </a:solidFill>
        </p:spPr>
      </p:sp>
      <p:sp>
        <p:nvSpPr>
          <p:cNvPr id="25" name="value-Range">
            <a:extLst xmlns:a="http://schemas.openxmlformats.org/drawingml/2006/main">
              <a:ext uri="{FF2B5EF4-FFF2-40B4-BE49-F238E27FC236}">
                <a16:creationId xmlns:a16="http://schemas.microsoft.com/office/drawing/2014/main" id="{D091370B-0FDB-4DC9-9BD4-3F3839C7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486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C8167"/>
                </a:solidFill>
              </a:defRPr>
            </a:pPr>
            <a:r>
              <a:rPr sz="1425" b="1">
                <a:solidFill>
                  <a:srgbClr val="3C8167"/>
                </a:solidFill>
              </a:rPr>
              <a:t>4</a:t>
            </a:r>
          </a:p>
        </p:txBody>
      </p:sp>
      <p:sp>
        <p:nvSpPr>
          <p:cNvPr id="26" name="Trebuchet-personality">
            <a:extLst xmlns:a="http://schemas.openxmlformats.org/drawingml/2006/main">
              <a:ext uri="{FF2B5EF4-FFF2-40B4-BE49-F238E27FC236}">
                <a16:creationId xmlns:a16="http://schemas.microsoft.com/office/drawing/2014/main" id="{3002C639-D6A6-4C93-B530-3FB45C16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9370"/>
            <a:ext cx="8172450" cy="7098030"/>
          </a:xfrm>
          <a:prstGeom xmlns:a="http://schemas.openxmlformats.org/drawingml/2006/main" prst="roundRect">
            <a:avLst>
              <a:gd name="adj" fmla="val 2415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38100">
            <a:solidFill>
              <a:srgbClr val="B84737"/>
            </a:solidFill>
            <a:prstDash val="solid"/>
          </a:ln>
        </p:spPr>
      </p:sp>
      <p:pic>
        <p:nvPicPr>
          <p:cNvPr id="27" name="Trebuchet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9cf4fa81c4e4f"/>
          <a:stretch xmlns:a="http://schemas.openxmlformats.org/drawingml/2006/main"/>
        </p:blipFill>
        <p:spPr>
          <a:xfrm xmlns:a="http://schemas.openxmlformats.org/drawingml/2006/main">
            <a:off x="9677400" y="5105400"/>
            <a:ext cx="2057400" cy="2057400"/>
          </a:xfrm>
          <a:prstGeom xmlns:a="http://schemas.openxmlformats.org/drawingml/2006/main" prst="rect">
            <a:avLst/>
          </a:prstGeom>
        </p:spPr>
      </p:pic>
      <p:sp>
        <p:nvSpPr>
          <p:cNvPr id="28" name="Trebuchet-big-name">
            <a:extLst xmlns:a="http://schemas.openxmlformats.org/drawingml/2006/main">
              <a:ext uri="{FF2B5EF4-FFF2-40B4-BE49-F238E27FC236}">
                <a16:creationId xmlns:a16="http://schemas.microsoft.com/office/drawing/2014/main" id="{AB975F6E-4A4D-43E0-8939-1A8F001F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514850"/>
            <a:ext cx="5067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6"/>
                </a:solidFill>
              </a:defRPr>
            </a:pPr>
            <a:r>
              <a:rPr sz="3900" b="1">
                <a:solidFill>
                  <a:srgbClr val="172126"/>
                </a:solidFill>
              </a:rPr>
              <a:t>Trebuchet</a:t>
            </a:r>
          </a:p>
        </p:txBody>
      </p:sp>
      <p:sp>
        <p:nvSpPr>
          <p:cNvPr id="29" name="Trebuchet-personality-line">
            <a:extLst xmlns:a="http://schemas.openxmlformats.org/drawingml/2006/main">
              <a:ext uri="{FF2B5EF4-FFF2-40B4-BE49-F238E27FC236}">
                <a16:creationId xmlns:a16="http://schemas.microsoft.com/office/drawing/2014/main" id="{45CAB70C-FF09-47B9-BA97-C076D976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238750"/>
            <a:ext cx="506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84737"/>
                </a:solidFill>
              </a:defRPr>
            </a:pPr>
            <a:r>
              <a:rPr sz="2175" b="1">
                <a:solidFill>
                  <a:srgbClr val="B84737"/>
                </a:solidFill>
              </a:rPr>
              <a:t>Slow, loud, inevitable</a:t>
            </a:r>
          </a:p>
        </p:txBody>
      </p:sp>
      <p:sp>
        <p:nvSpPr>
          <p:cNvPr id="30" name="Trebuchet-pitch">
            <a:extLst xmlns:a="http://schemas.openxmlformats.org/drawingml/2006/main">
              <a:ext uri="{FF2B5EF4-FFF2-40B4-BE49-F238E27FC236}">
                <a16:creationId xmlns:a16="http://schemas.microsoft.com/office/drawing/2014/main" id="{EB7184BB-2C3E-4EFB-885D-C029F4D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715000"/>
            <a:ext cx="5067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158"/>
                </a:solidFill>
              </a:defRPr>
            </a:pPr>
            <a:r>
              <a:rPr sz="1800">
                <a:solidFill>
                  <a:srgbClr val="405158"/>
                </a:solidFill>
              </a:rPr>
              <a:t>Punishes clustered enemies with board-wide reach and splash pressure.</a:t>
            </a:r>
          </a:p>
        </p:txBody>
      </p:sp>
      <p:sp>
        <p:nvSpPr>
          <p:cNvPr id="31" name="label-HP">
            <a:extLst xmlns:a="http://schemas.openxmlformats.org/drawingml/2006/main">
              <a:ext uri="{FF2B5EF4-FFF2-40B4-BE49-F238E27FC236}">
                <a16:creationId xmlns:a16="http://schemas.microsoft.com/office/drawing/2014/main" id="{8EF6D134-CA84-444C-9023-B77D2EE9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64198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HP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E27F5F-03C8-47A0-A006-864D1D25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4579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10780E-E347-45B3-BC32-747E2993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477000"/>
            <a:ext cx="11525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737"/>
          </a:solidFill>
        </p:spPr>
      </p:sp>
      <p:sp>
        <p:nvSpPr>
          <p:cNvPr id="34" name="value-HP">
            <a:extLst xmlns:a="http://schemas.openxmlformats.org/drawingml/2006/main">
              <a:ext uri="{FF2B5EF4-FFF2-40B4-BE49-F238E27FC236}">
                <a16:creationId xmlns:a16="http://schemas.microsoft.com/office/drawing/2014/main" id="{AF171FDF-E882-4842-ACD8-385EE168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4737"/>
                </a:solidFill>
              </a:defRPr>
            </a:pPr>
            <a:r>
              <a:rPr sz="1425" b="1">
                <a:solidFill>
                  <a:srgbClr val="B84737"/>
                </a:solidFill>
              </a:rPr>
              <a:t>70</a:t>
            </a:r>
          </a:p>
        </p:txBody>
      </p:sp>
      <p:sp>
        <p:nvSpPr>
          <p:cNvPr id="35" name="label-ATK">
            <a:extLst xmlns:a="http://schemas.openxmlformats.org/drawingml/2006/main">
              <a:ext uri="{FF2B5EF4-FFF2-40B4-BE49-F238E27FC236}">
                <a16:creationId xmlns:a16="http://schemas.microsoft.com/office/drawing/2014/main" id="{6AF98523-1BFE-4BC0-BC55-7AAB5D63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67818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ATK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3F9A65-E85A-47A3-BC60-54229A6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8199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3B6C21-3792-415F-912A-2713BA6A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858000"/>
            <a:ext cx="8286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737"/>
          </a:solidFill>
        </p:spPr>
      </p:sp>
      <p:sp>
        <p:nvSpPr>
          <p:cNvPr id="38" name="value-ATK">
            <a:extLst xmlns:a="http://schemas.openxmlformats.org/drawingml/2006/main">
              <a:ext uri="{FF2B5EF4-FFF2-40B4-BE49-F238E27FC236}">
                <a16:creationId xmlns:a16="http://schemas.microsoft.com/office/drawing/2014/main" id="{2F7C4794-E5BE-4B02-B55C-4B05AC4C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67627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4737"/>
                </a:solidFill>
              </a:defRPr>
            </a:pPr>
            <a:r>
              <a:rPr sz="1425" b="1">
                <a:solidFill>
                  <a:srgbClr val="B84737"/>
                </a:solidFill>
              </a:rPr>
              <a:t>20</a:t>
            </a:r>
          </a:p>
        </p:txBody>
      </p:sp>
      <p:sp>
        <p:nvSpPr>
          <p:cNvPr id="39" name="label-Move">
            <a:extLst xmlns:a="http://schemas.openxmlformats.org/drawingml/2006/main">
              <a:ext uri="{FF2B5EF4-FFF2-40B4-BE49-F238E27FC236}">
                <a16:creationId xmlns:a16="http://schemas.microsoft.com/office/drawing/2014/main" id="{E831AEFF-BA19-4817-B144-7F48E09F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1437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Move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0C8FB6-18EE-4D13-ACC3-3DD8BAC4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71818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37E529-EFBE-4F7D-BA94-04194952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162800"/>
            <a:ext cx="8286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737"/>
          </a:solidFill>
        </p:spPr>
      </p:sp>
      <p:sp>
        <p:nvSpPr>
          <p:cNvPr id="42" name="value-Move">
            <a:extLst xmlns:a="http://schemas.openxmlformats.org/drawingml/2006/main">
              <a:ext uri="{FF2B5EF4-FFF2-40B4-BE49-F238E27FC236}">
                <a16:creationId xmlns:a16="http://schemas.microsoft.com/office/drawing/2014/main" id="{B5100260-29F9-4D3E-BF13-DB4BAE91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71247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4737"/>
                </a:solidFill>
              </a:defRPr>
            </a:pPr>
            <a:r>
              <a:rPr sz="1425" b="1">
                <a:solidFill>
                  <a:srgbClr val="B84737"/>
                </a:solidFill>
              </a:rPr>
              <a:t>1</a:t>
            </a:r>
          </a:p>
        </p:txBody>
      </p:sp>
      <p:sp>
        <p:nvSpPr>
          <p:cNvPr id="43" name="label-Range">
            <a:extLst xmlns:a="http://schemas.openxmlformats.org/drawingml/2006/main">
              <a:ext uri="{FF2B5EF4-FFF2-40B4-BE49-F238E27FC236}">
                <a16:creationId xmlns:a16="http://schemas.microsoft.com/office/drawing/2014/main" id="{D0B2A6EE-D501-447E-92F8-88C0240E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5057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Range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E5C1C2-E23F-4F61-A123-5E9E3D9A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75438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7F1896-DF40-4105-84B4-413DDB38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543800"/>
            <a:ext cx="2476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737"/>
          </a:solidFill>
        </p:spPr>
      </p:sp>
      <p:sp>
        <p:nvSpPr>
          <p:cNvPr id="46" name="value-Range">
            <a:extLst xmlns:a="http://schemas.openxmlformats.org/drawingml/2006/main">
              <a:ext uri="{FF2B5EF4-FFF2-40B4-BE49-F238E27FC236}">
                <a16:creationId xmlns:a16="http://schemas.microsoft.com/office/drawing/2014/main" id="{1DA54385-0683-49C6-987D-61ABFC4C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7486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4737"/>
                </a:solidFill>
              </a:defRPr>
            </a:pPr>
            <a:r>
              <a:rPr sz="1425" b="1">
                <a:solidFill>
                  <a:srgbClr val="B84737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628936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BD8D4D5-3E74-45ED-BC7C-AB2E00D8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DE"/>
          </a:solidFill>
        </p:spPr>
      </p:sp>
      <p:sp>
        <p:nvSpPr>
          <p:cNvPr id="2" name="Healer-personality">
            <a:extLst xmlns:a="http://schemas.openxmlformats.org/drawingml/2006/main">
              <a:ext uri="{FF2B5EF4-FFF2-40B4-BE49-F238E27FC236}">
                <a16:creationId xmlns:a16="http://schemas.microsoft.com/office/drawing/2014/main" id="{CFC9B56C-68E6-4F13-BED2-8E505BDF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8876044" cy="895350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38100">
            <a:solidFill>
              <a:srgbClr val="43A99A"/>
            </a:solidFill>
            <a:prstDash val="solid"/>
          </a:ln>
        </p:spPr>
      </p:sp>
      <p:pic>
        <p:nvPicPr>
          <p:cNvPr id="3" name="Heale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2bcd4511c4d9c"/>
          <a:stretch xmlns:a="http://schemas.openxmlformats.org/drawingml/2006/main"/>
        </p:blipFill>
        <p:spPr>
          <a:xfrm xmlns:a="http://schemas.openxmlformats.org/drawingml/2006/main">
            <a:off x="1162050" y="4114800"/>
            <a:ext cx="2057400" cy="2057400"/>
          </a:xfrm>
          <a:prstGeom xmlns:a="http://schemas.openxmlformats.org/drawingml/2006/main" prst="rect">
            <a:avLst/>
          </a:prstGeom>
        </p:spPr>
      </p:pic>
      <p:sp>
        <p:nvSpPr>
          <p:cNvPr id="4" name="Healer-big-name">
            <a:extLst xmlns:a="http://schemas.openxmlformats.org/drawingml/2006/main">
              <a:ext uri="{FF2B5EF4-FFF2-40B4-BE49-F238E27FC236}">
                <a16:creationId xmlns:a16="http://schemas.microsoft.com/office/drawing/2014/main" id="{1B2F2869-54A3-447B-B1D3-8E9DCBDA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24250"/>
            <a:ext cx="5772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6"/>
                </a:solidFill>
              </a:defRPr>
            </a:pPr>
            <a:r>
              <a:rPr sz="3900" b="1">
                <a:solidFill>
                  <a:srgbClr val="172126"/>
                </a:solidFill>
              </a:rPr>
              <a:t>Healer</a:t>
            </a:r>
          </a:p>
        </p:txBody>
      </p:sp>
      <p:sp>
        <p:nvSpPr>
          <p:cNvPr id="5" name="Healer-personality-line">
            <a:extLst xmlns:a="http://schemas.openxmlformats.org/drawingml/2006/main">
              <a:ext uri="{FF2B5EF4-FFF2-40B4-BE49-F238E27FC236}">
                <a16:creationId xmlns:a16="http://schemas.microsoft.com/office/drawing/2014/main" id="{3C527657-D4AD-4DE0-9223-972093FF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48150"/>
            <a:ext cx="5772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3A99A"/>
                </a:solidFill>
              </a:defRPr>
            </a:pPr>
            <a:r>
              <a:rPr sz="2175" b="1">
                <a:solidFill>
                  <a:srgbClr val="43A99A"/>
                </a:solidFill>
              </a:rPr>
              <a:t>Mercy with a plan</a:t>
            </a:r>
          </a:p>
        </p:txBody>
      </p:sp>
      <p:sp>
        <p:nvSpPr>
          <p:cNvPr id="6" name="Healer-pitch">
            <a:extLst xmlns:a="http://schemas.openxmlformats.org/drawingml/2006/main">
              <a:ext uri="{FF2B5EF4-FFF2-40B4-BE49-F238E27FC236}">
                <a16:creationId xmlns:a16="http://schemas.microsoft.com/office/drawing/2014/main" id="{BB29768E-72E5-4A55-B262-0A81CFCE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24400"/>
            <a:ext cx="5772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158"/>
                </a:solidFill>
              </a:defRPr>
            </a:pPr>
            <a:r>
              <a:rPr sz="1800">
                <a:solidFill>
                  <a:srgbClr val="405158"/>
                </a:solidFill>
              </a:rPr>
              <a:t>Turns wounded allies into repeat threats; cannot damage enemies.</a:t>
            </a:r>
          </a:p>
        </p:txBody>
      </p:sp>
      <p:sp>
        <p:nvSpPr>
          <p:cNvPr id="7" name="label-HP">
            <a:extLst xmlns:a="http://schemas.openxmlformats.org/drawingml/2006/main">
              <a:ext uri="{FF2B5EF4-FFF2-40B4-BE49-F238E27FC236}">
                <a16:creationId xmlns:a16="http://schemas.microsoft.com/office/drawing/2014/main" id="{D27F392A-4CE5-4680-855B-BBC111C6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292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HP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7205A-23FA-4073-9214-764E4199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673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597C5-39AA-4535-8F42-44688B61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86400"/>
            <a:ext cx="13239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99A"/>
          </a:solidFill>
        </p:spPr>
      </p:sp>
      <p:sp>
        <p:nvSpPr>
          <p:cNvPr id="10" name="value-HP">
            <a:extLst xmlns:a="http://schemas.openxmlformats.org/drawingml/2006/main">
              <a:ext uri="{FF2B5EF4-FFF2-40B4-BE49-F238E27FC236}">
                <a16:creationId xmlns:a16="http://schemas.microsoft.com/office/drawing/2014/main" id="{1F57B630-74E7-4262-B40B-A4F0BB2F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102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3A99A"/>
                </a:solidFill>
              </a:defRPr>
            </a:pPr>
            <a:r>
              <a:rPr sz="1425" b="1">
                <a:solidFill>
                  <a:srgbClr val="43A99A"/>
                </a:solidFill>
              </a:rPr>
              <a:t>80</a:t>
            </a:r>
          </a:p>
        </p:txBody>
      </p:sp>
      <p:sp>
        <p:nvSpPr>
          <p:cNvPr id="11" name="label-ATK">
            <a:extLst xmlns:a="http://schemas.openxmlformats.org/drawingml/2006/main">
              <a:ext uri="{FF2B5EF4-FFF2-40B4-BE49-F238E27FC236}">
                <a16:creationId xmlns:a16="http://schemas.microsoft.com/office/drawing/2014/main" id="{0ACD5261-FD1C-4061-AEBC-BFE00B7E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912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ATK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AD54A-7A61-4A80-9FDF-44F61939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293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BE609-FBBB-47B8-94F4-0E7A6A5D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99A"/>
          </a:solidFill>
        </p:spPr>
      </p:sp>
      <p:sp>
        <p:nvSpPr>
          <p:cNvPr id="14" name="value-ATK">
            <a:extLst xmlns:a="http://schemas.openxmlformats.org/drawingml/2006/main">
              <a:ext uri="{FF2B5EF4-FFF2-40B4-BE49-F238E27FC236}">
                <a16:creationId xmlns:a16="http://schemas.microsoft.com/office/drawing/2014/main" id="{CD1402DF-BB3E-4653-B79B-6882C0CD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721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3A99A"/>
                </a:solidFill>
              </a:defRPr>
            </a:pPr>
            <a:r>
              <a:rPr sz="1425" b="1">
                <a:solidFill>
                  <a:srgbClr val="43A99A"/>
                </a:solidFill>
              </a:rPr>
              <a:t>30</a:t>
            </a:r>
          </a:p>
        </p:txBody>
      </p:sp>
      <p:sp>
        <p:nvSpPr>
          <p:cNvPr id="15" name="label-Move">
            <a:extLst xmlns:a="http://schemas.openxmlformats.org/drawingml/2006/main">
              <a:ext uri="{FF2B5EF4-FFF2-40B4-BE49-F238E27FC236}">
                <a16:creationId xmlns:a16="http://schemas.microsoft.com/office/drawing/2014/main" id="{B4D2CB19-C099-4044-97D2-F26C6D45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1531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Move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9EDB8-171F-4378-986A-16D3B729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912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98861-42D8-453D-A876-4DB5F970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72200"/>
            <a:ext cx="2476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99A"/>
          </a:solidFill>
        </p:spPr>
      </p:sp>
      <p:sp>
        <p:nvSpPr>
          <p:cNvPr id="18" name="value-Move">
            <a:extLst xmlns:a="http://schemas.openxmlformats.org/drawingml/2006/main">
              <a:ext uri="{FF2B5EF4-FFF2-40B4-BE49-F238E27FC236}">
                <a16:creationId xmlns:a16="http://schemas.microsoft.com/office/drawing/2014/main" id="{C48167EF-058C-4B79-A985-EF9B41DE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1341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3A99A"/>
                </a:solidFill>
              </a:defRPr>
            </a:pPr>
            <a:r>
              <a:rPr sz="1425" b="1">
                <a:solidFill>
                  <a:srgbClr val="43A99A"/>
                </a:solidFill>
              </a:rPr>
              <a:t>3</a:t>
            </a:r>
          </a:p>
        </p:txBody>
      </p:sp>
      <p:sp>
        <p:nvSpPr>
          <p:cNvPr id="19" name="label-Range">
            <a:extLst xmlns:a="http://schemas.openxmlformats.org/drawingml/2006/main">
              <a:ext uri="{FF2B5EF4-FFF2-40B4-BE49-F238E27FC236}">
                <a16:creationId xmlns:a16="http://schemas.microsoft.com/office/drawing/2014/main" id="{EA48E6B2-675A-4FCF-8746-02B8E055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5151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158"/>
                </a:solidFill>
              </a:defRPr>
            </a:pPr>
            <a:r>
              <a:rPr sz="1350" b="1">
                <a:solidFill>
                  <a:srgbClr val="405158"/>
                </a:solidFill>
              </a:rPr>
              <a:t>Range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00801-2A7C-41E3-BCC1-9F6EC01B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5A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A274BC-D7AC-4E57-983E-AA9501AD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99A"/>
          </a:solidFill>
        </p:spPr>
      </p:sp>
      <p:sp>
        <p:nvSpPr>
          <p:cNvPr id="22" name="value-Range">
            <a:extLst xmlns:a="http://schemas.openxmlformats.org/drawingml/2006/main">
              <a:ext uri="{FF2B5EF4-FFF2-40B4-BE49-F238E27FC236}">
                <a16:creationId xmlns:a16="http://schemas.microsoft.com/office/drawing/2014/main" id="{09363DBA-2B92-48CE-92DA-199617AF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4960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3A99A"/>
                </a:solidFill>
              </a:defRPr>
            </a:pPr>
            <a:r>
              <a:rPr sz="1425" b="1">
                <a:solidFill>
                  <a:srgbClr val="43A99A"/>
                </a:solidFill>
              </a:rPr>
              <a:t>3</a:t>
            </a:r>
          </a:p>
        </p:txBody>
      </p:sp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BC3652FF-747B-4199-A313-007D6290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14700"/>
            <a:ext cx="727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4737"/>
                </a:solidFill>
              </a:defRPr>
            </a:pPr>
            <a:r>
              <a:rPr sz="1650" b="1">
                <a:solidFill>
                  <a:srgbClr val="B84737"/>
                </a:solidFill>
              </a:rPr>
              <a:t>SUPPORT ROLE</a:t>
            </a:r>
          </a:p>
        </p:txBody>
      </p:sp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BD4CD4-DC2B-4F6C-A408-6DA53390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714750"/>
            <a:ext cx="72771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126"/>
                </a:solidFill>
              </a:defRPr>
            </a:pPr>
            <a:r>
              <a:rPr sz="4800" b="1">
                <a:solidFill>
                  <a:srgbClr val="172126"/>
                </a:solidFill>
              </a:rPr>
              <a:t>The Healer buys second chances</a:t>
            </a:r>
          </a:p>
        </p:txBody>
      </p:sp>
      <p:sp>
        <p:nvSpPr>
          <p:cNvPr id="25" name="subtitle">
            <a:extLst xmlns:a="http://schemas.openxmlformats.org/drawingml/2006/main">
              <a:ext uri="{FF2B5EF4-FFF2-40B4-BE49-F238E27FC236}">
                <a16:creationId xmlns:a16="http://schemas.microsoft.com/office/drawing/2014/main" id="{898A7A1E-12E2-4310-A946-F63BDA79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334000"/>
            <a:ext cx="7277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05158"/>
                </a:solidFill>
              </a:defRPr>
            </a:pPr>
            <a:r>
              <a:rPr sz="2100">
                <a:solidFill>
                  <a:srgbClr val="405158"/>
                </a:solidFill>
              </a:rPr>
              <a:t>Healing is a tempo weapon: it turns one surviving ally into two future attacks.</a:t>
            </a:r>
          </a:p>
        </p:txBody>
      </p:sp>
      <p:sp>
        <p:nvSpPr>
          <p:cNvPr id="26" name="healer-tip">
            <a:extLst xmlns:a="http://schemas.openxmlformats.org/drawingml/2006/main">
              <a:ext uri="{FF2B5EF4-FFF2-40B4-BE49-F238E27FC236}">
                <a16:creationId xmlns:a16="http://schemas.microsoft.com/office/drawing/2014/main" id="{4ECB5014-C5B5-40F5-99B4-FAD91E73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229350"/>
            <a:ext cx="66103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3C8167"/>
                </a:solidFill>
              </a:defRPr>
            </a:pPr>
            <a:r>
              <a:rPr sz="2475" b="1">
                <a:solidFill>
                  <a:srgbClr val="3C8167"/>
                </a:solidFill>
              </a:rPr>
              <a:t>Best use: keep the unit that controls the lane alive, not the unit that is easiest to reach.</a:t>
            </a:r>
          </a:p>
        </p:txBody>
      </p:sp>
    </p:spTree>
    <p:extLst>
      <p:ext uri="{BB962C8B-B14F-4D97-AF65-F5344CB8AC3E}">
        <p14:creationId xmlns:p14="http://schemas.microsoft.com/office/powerpoint/2010/main" val="8359006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0C97BFF-C188-48AB-AC48-4B7DA5B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DE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5F0C853-AD3D-4681-90F4-7C08EFB0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4737"/>
                </a:solidFill>
              </a:defRPr>
            </a:pPr>
            <a:r>
              <a:rPr sz="1650" b="1">
                <a:solidFill>
                  <a:srgbClr val="B84737"/>
                </a:solidFill>
              </a:rPr>
              <a:t>STRATEGY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594407-D4D0-4C31-A93D-75DC8FEB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165354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126"/>
                </a:solidFill>
              </a:defRPr>
            </a:pPr>
            <a:r>
              <a:rPr sz="4800" b="1">
                <a:solidFill>
                  <a:srgbClr val="172126"/>
                </a:solidFill>
              </a:rPr>
              <a:t>Spend action points on position before damage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BC8AC37-5E0F-46CA-836F-B3042247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16535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05158"/>
                </a:solidFill>
              </a:defRPr>
            </a:pPr>
            <a:r>
              <a:rPr sz="2100">
                <a:solidFill>
                  <a:srgbClr val="405158"/>
                </a:solidFill>
              </a:rPr>
              <a:t>The game rewards threats that survive to act again.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C75C9-4610-4EF1-BB46-36895395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3670"/>
            <a:ext cx="5321300" cy="6926580"/>
          </a:xfrm>
          <a:prstGeom xmlns:a="http://schemas.openxmlformats.org/drawingml/2006/main" prst="roundRect">
            <a:avLst>
              <a:gd name="adj" fmla="val 322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sp>
        <p:nvSpPr>
          <p:cNvPr id="6" name="economy-step-1-num">
            <a:extLst xmlns:a="http://schemas.openxmlformats.org/drawingml/2006/main">
              <a:ext uri="{FF2B5EF4-FFF2-40B4-BE49-F238E27FC236}">
                <a16:creationId xmlns:a16="http://schemas.microsoft.com/office/drawing/2014/main" id="{CF16B7A2-8B39-40B0-B1CB-0B5676F9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4667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B84737"/>
                </a:solidFill>
              </a:defRPr>
            </a:pPr>
            <a:r>
              <a:rPr sz="5550" b="1">
                <a:solidFill>
                  <a:srgbClr val="B84737"/>
                </a:solidFill>
              </a:rPr>
              <a:t>1</a:t>
            </a:r>
          </a:p>
        </p:txBody>
      </p:sp>
      <p:sp>
        <p:nvSpPr>
          <p:cNvPr id="7" name="economy-step-1-title">
            <a:extLst xmlns:a="http://schemas.openxmlformats.org/drawingml/2006/main">
              <a:ext uri="{FF2B5EF4-FFF2-40B4-BE49-F238E27FC236}">
                <a16:creationId xmlns:a16="http://schemas.microsoft.com/office/drawing/2014/main" id="{0630A111-C99B-4C45-A267-8F2173C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466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6"/>
                </a:solidFill>
              </a:defRPr>
            </a:pPr>
            <a:r>
              <a:rPr sz="2550" b="1">
                <a:solidFill>
                  <a:srgbClr val="172126"/>
                </a:solidFill>
              </a:rPr>
              <a:t>Develop a threat</a:t>
            </a:r>
          </a:p>
        </p:txBody>
      </p:sp>
      <p:sp>
        <p:nvSpPr>
          <p:cNvPr id="8" name="economy-step-1-body">
            <a:extLst xmlns:a="http://schemas.openxmlformats.org/drawingml/2006/main">
              <a:ext uri="{FF2B5EF4-FFF2-40B4-BE49-F238E27FC236}">
                <a16:creationId xmlns:a16="http://schemas.microsoft.com/office/drawing/2014/main" id="{53BA0FC2-3433-4235-AE8B-4AE83D48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4667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158"/>
                </a:solidFill>
              </a:defRPr>
            </a:pPr>
            <a:r>
              <a:rPr sz="1875">
                <a:solidFill>
                  <a:srgbClr val="405158"/>
                </a:solidFill>
              </a:rPr>
              <a:t>Move or deploy so next turn starts with a target already under pressure.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E0F3C-BF94-4B16-AE73-36D3D8FF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2693670"/>
            <a:ext cx="5321300" cy="6926580"/>
          </a:xfrm>
          <a:prstGeom xmlns:a="http://schemas.openxmlformats.org/drawingml/2006/main" prst="roundRect">
            <a:avLst>
              <a:gd name="adj" fmla="val 322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sp>
        <p:nvSpPr>
          <p:cNvPr id="10" name="economy-step-2-num">
            <a:extLst xmlns:a="http://schemas.openxmlformats.org/drawingml/2006/main">
              <a:ext uri="{FF2B5EF4-FFF2-40B4-BE49-F238E27FC236}">
                <a16:creationId xmlns:a16="http://schemas.microsoft.com/office/drawing/2014/main" id="{6FA50DA1-5823-4678-BA63-1E1D8C5A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4667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2F6FA3"/>
                </a:solidFill>
              </a:defRPr>
            </a:pPr>
            <a:r>
              <a:rPr sz="5550" b="1">
                <a:solidFill>
                  <a:srgbClr val="2F6FA3"/>
                </a:solidFill>
              </a:rPr>
              <a:t>2</a:t>
            </a:r>
          </a:p>
        </p:txBody>
      </p:sp>
      <p:sp>
        <p:nvSpPr>
          <p:cNvPr id="11" name="economy-step-2-title">
            <a:extLst xmlns:a="http://schemas.openxmlformats.org/drawingml/2006/main">
              <a:ext uri="{FF2B5EF4-FFF2-40B4-BE49-F238E27FC236}">
                <a16:creationId xmlns:a16="http://schemas.microsoft.com/office/drawing/2014/main" id="{D3B43571-1EFC-4ECF-B7B2-C1F79F3D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466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6"/>
                </a:solidFill>
              </a:defRPr>
            </a:pPr>
            <a:r>
              <a:rPr sz="2550" b="1">
                <a:solidFill>
                  <a:srgbClr val="172126"/>
                </a:solidFill>
              </a:rPr>
              <a:t>Draw only with intent</a:t>
            </a:r>
          </a:p>
        </p:txBody>
      </p:sp>
      <p:sp>
        <p:nvSpPr>
          <p:cNvPr id="12" name="economy-step-2-body">
            <a:extLst xmlns:a="http://schemas.openxmlformats.org/drawingml/2006/main">
              <a:ext uri="{FF2B5EF4-FFF2-40B4-BE49-F238E27FC236}">
                <a16:creationId xmlns:a16="http://schemas.microsoft.com/office/drawing/2014/main" id="{5257034F-EFFC-4868-9748-269988F5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4667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158"/>
                </a:solidFill>
              </a:defRPr>
            </a:pPr>
            <a:r>
              <a:rPr sz="1875">
                <a:solidFill>
                  <a:srgbClr val="405158"/>
                </a:solidFill>
              </a:rPr>
              <a:t>A card draw costs tempo. Draw when the board is stable or your hand lacks the next role.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BE271-AC64-47DB-A227-14160B37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693670"/>
            <a:ext cx="5321300" cy="6926580"/>
          </a:xfrm>
          <a:prstGeom xmlns:a="http://schemas.openxmlformats.org/drawingml/2006/main" prst="roundRect">
            <a:avLst>
              <a:gd name="adj" fmla="val 322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sp>
        <p:nvSpPr>
          <p:cNvPr id="14" name="economy-step-3-num">
            <a:extLst xmlns:a="http://schemas.openxmlformats.org/drawingml/2006/main">
              <a:ext uri="{FF2B5EF4-FFF2-40B4-BE49-F238E27FC236}">
                <a16:creationId xmlns:a16="http://schemas.microsoft.com/office/drawing/2014/main" id="{E5F4E63D-CEC6-4F1F-B22E-654870EA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009900"/>
            <a:ext cx="4667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3C8167"/>
                </a:solidFill>
              </a:defRPr>
            </a:pPr>
            <a:r>
              <a:rPr sz="5550" b="1">
                <a:solidFill>
                  <a:srgbClr val="3C8167"/>
                </a:solidFill>
              </a:rPr>
              <a:t>3</a:t>
            </a:r>
          </a:p>
        </p:txBody>
      </p:sp>
      <p:sp>
        <p:nvSpPr>
          <p:cNvPr id="15" name="economy-step-3-title">
            <a:extLst xmlns:a="http://schemas.openxmlformats.org/drawingml/2006/main">
              <a:ext uri="{FF2B5EF4-FFF2-40B4-BE49-F238E27FC236}">
                <a16:creationId xmlns:a16="http://schemas.microsoft.com/office/drawing/2014/main" id="{F8F2E43E-1556-48D7-83B1-5059BD42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057650"/>
            <a:ext cx="466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6"/>
                </a:solidFill>
              </a:defRPr>
            </a:pPr>
            <a:r>
              <a:rPr sz="2550" b="1">
                <a:solidFill>
                  <a:srgbClr val="172126"/>
                </a:solidFill>
              </a:rPr>
              <a:t>Attack when it changes the map</a:t>
            </a:r>
          </a:p>
        </p:txBody>
      </p:sp>
      <p:sp>
        <p:nvSpPr>
          <p:cNvPr id="16" name="economy-step-3-body">
            <a:extLst xmlns:a="http://schemas.openxmlformats.org/drawingml/2006/main">
              <a:ext uri="{FF2B5EF4-FFF2-40B4-BE49-F238E27FC236}">
                <a16:creationId xmlns:a16="http://schemas.microsoft.com/office/drawing/2014/main" id="{C8FE446D-124E-4580-B632-8FE4F259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629150"/>
            <a:ext cx="4667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158"/>
                </a:solidFill>
              </a:defRPr>
            </a:pPr>
            <a:r>
              <a:rPr sz="1875">
                <a:solidFill>
                  <a:srgbClr val="405158"/>
                </a:solidFill>
              </a:rPr>
              <a:t>Damage matters most when it removes a unit, opens a lane, or forces the commander backward.</a:t>
            </a:r>
          </a:p>
        </p:txBody>
      </p:sp>
    </p:spTree>
    <p:extLst>
      <p:ext uri="{BB962C8B-B14F-4D97-AF65-F5344CB8AC3E}">
        <p14:creationId xmlns:p14="http://schemas.microsoft.com/office/powerpoint/2010/main" val="10796258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89AFD05-450F-494B-9711-06F20DFC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DE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1E8C3FE-6AF9-4669-A1F8-D771C5B4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729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4737"/>
                </a:solidFill>
              </a:defRPr>
            </a:pPr>
            <a:r>
              <a:rPr sz="1650" b="1">
                <a:solidFill>
                  <a:srgbClr val="B84737"/>
                </a:solidFill>
              </a:rPr>
              <a:t>STRATEGY 02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3BA1F4-06F2-4604-9556-7A7516B3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72961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126"/>
                </a:solidFill>
              </a:defRPr>
            </a:pPr>
            <a:r>
              <a:rPr sz="4800" b="1">
                <a:solidFill>
                  <a:srgbClr val="172126"/>
                </a:solidFill>
              </a:rPr>
              <a:t>Make range bands do the work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50D58D4-5F4E-4CC8-966B-93B56054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7296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05158"/>
                </a:solidFill>
              </a:defRPr>
            </a:pPr>
            <a:r>
              <a:rPr sz="2100">
                <a:solidFill>
                  <a:srgbClr val="405158"/>
                </a:solidFill>
              </a:rPr>
              <a:t>A good formation lets one unit threaten while another unit protects the square it needs.</a:t>
            </a:r>
          </a:p>
        </p:txBody>
      </p:sp>
      <p:sp>
        <p:nvSpPr>
          <p:cNvPr id="5" name="formation-rule">
            <a:extLst xmlns:a="http://schemas.openxmlformats.org/drawingml/2006/main">
              <a:ext uri="{FF2B5EF4-FFF2-40B4-BE49-F238E27FC236}">
                <a16:creationId xmlns:a16="http://schemas.microsoft.com/office/drawing/2014/main" id="{E32C2E92-C426-418F-9C30-D0122D3B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74485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A553B"/>
                </a:solidFill>
              </a:defRPr>
            </a:pPr>
            <a:r>
              <a:rPr sz="2625" b="1">
                <a:solidFill>
                  <a:srgbClr val="7A553B"/>
                </a:solidFill>
              </a:rPr>
              <a:t>Simple formation rule: melee in front, healer one step behind, archer off-angle, trebuchet anywhere it can punish a cluster.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155F4-77BD-4846-96E4-2A3E8BE4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24000"/>
            <a:ext cx="8905875" cy="72390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EB7A1-2E8C-4D12-830A-CBB231B6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79070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D77F3-1344-4BF3-A26F-ABC135B3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EB785-DBAF-40BC-8C66-F5F4F9D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179070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E7DEB-C8C4-4CF4-88CC-E061D828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050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04DAA-DCCF-4E2D-9378-B8604C53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195" y="179070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0FB46-E87D-49D3-AB06-52A40285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19050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F7C56-0FB4-4A97-83DA-17AEB1C7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7930" y="179070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AC674-B861-402D-B2CA-85FF3539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9050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4A54C-8F39-4844-902B-2FA51BBB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7665" y="179070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C28D9-FE64-4E63-92C6-575CB7E0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19050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50A46-1FBF-47A9-87B0-570DD93B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48615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10BE8-C860-47E9-AB69-2D5423BC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5A420-0FCF-4D2C-99ED-854F411F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348615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F7E9C8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pic>
        <p:nvPicPr>
          <p:cNvPr id="20" name="Warrio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32dcbd0cc4b63"/>
          <a:stretch xmlns:a="http://schemas.openxmlformats.org/drawingml/2006/main"/>
        </p:blipFill>
        <p:spPr>
          <a:xfrm xmlns:a="http://schemas.openxmlformats.org/drawingml/2006/main">
            <a:off x="10614660" y="356235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368BA-A387-4981-839E-FCAE5F30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195" y="348615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F7E9C8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pic>
        <p:nvPicPr>
          <p:cNvPr id="22" name="Commande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99ef5ed034285"/>
          <a:stretch xmlns:a="http://schemas.openxmlformats.org/drawingml/2006/main"/>
        </p:blipFill>
        <p:spPr>
          <a:xfrm xmlns:a="http://schemas.openxmlformats.org/drawingml/2006/main">
            <a:off x="12304395" y="356235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C520F-DCE0-49EF-85A9-4F679608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7930" y="348615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0C9F9-726C-4E88-A252-BEA276DA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5814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31AF6D-CC8D-4AA3-8994-C0651CD5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7665" y="348615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E2AC05-EE94-4067-85D7-1AABA50A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5814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C863F-AF9A-40AC-B520-912772A1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18160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CE62EA-7CC4-484A-8588-48713F83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578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E07D09-449B-4351-9BBA-6E48B378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518160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F7E9C8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pic>
        <p:nvPicPr>
          <p:cNvPr id="30" name="Heale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d70608e2e4322"/>
          <a:stretch xmlns:a="http://schemas.openxmlformats.org/drawingml/2006/main"/>
        </p:blipFill>
        <p:spPr>
          <a:xfrm xmlns:a="http://schemas.openxmlformats.org/drawingml/2006/main">
            <a:off x="10614660" y="52578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A3E943-CF7A-4AEC-AD6C-DBAA30BF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195" y="518160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8E6E3-0FEC-41AA-8DB9-FB06D42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2578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8FBD4E-EB5D-4D9B-8FCE-74C09F4B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7930" y="518160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F7E9C8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pic>
        <p:nvPicPr>
          <p:cNvPr id="34" name="Archer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3101f93034d38"/>
          <a:stretch xmlns:a="http://schemas.openxmlformats.org/drawingml/2006/main"/>
        </p:blipFill>
        <p:spPr>
          <a:xfrm xmlns:a="http://schemas.openxmlformats.org/drawingml/2006/main">
            <a:off x="13994130" y="52578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B7F47F-7FDF-4A38-944C-D862AE62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7665" y="518160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AD1F4C-6830-4FB5-B47E-4AABD75C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52578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707092-99D4-4E7B-9E83-0953A36E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687705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7D77D4-AC9F-4E7B-AE1F-C9F589C5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9342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96600B-F5D9-4C87-8811-8C38989D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687705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96B9C8-2CB8-44D9-8395-74DE7E5A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9342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11412F-9A22-4587-B30A-C34DCAF2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195" y="687705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5F6A5E-9986-4DAD-83B9-70C2937A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9342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BC6210-55BA-4654-B7FA-7559F3B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7930" y="687705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F7E9C8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pic>
        <p:nvPicPr>
          <p:cNvPr id="44" name="Trebuchet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167d2152f497d"/>
          <a:stretch xmlns:a="http://schemas.openxmlformats.org/drawingml/2006/main"/>
        </p:blipFill>
        <p:spPr>
          <a:xfrm xmlns:a="http://schemas.openxmlformats.org/drawingml/2006/main">
            <a:off x="13994130" y="695325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0F4D9D-55DE-43C2-81DB-7E6C1B29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7665" y="6877050"/>
            <a:ext cx="1613535" cy="1619250"/>
          </a:xfrm>
          <a:prstGeom xmlns:a="http://schemas.openxmlformats.org/drawingml/2006/main" prst="roundRect">
            <a:avLst>
              <a:gd name="adj" fmla="val 4723"/>
            </a:avLst>
          </a:prstGeom>
          <a:solidFill xmlns:a="http://schemas.openxmlformats.org/drawingml/2006/main">
            <a:srgbClr val="E9D8AD"/>
          </a:solidFill>
          <a:ln xmlns:a="http://schemas.openxmlformats.org/drawingml/2006/main" w="9525">
            <a:solidFill>
              <a:srgbClr val="D2BD8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75C86E-E4DB-46B5-927E-20196420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69342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D"/>
          </a:solidFill>
        </p:spPr>
      </p:sp>
    </p:spTree>
    <p:extLst>
      <p:ext uri="{BB962C8B-B14F-4D97-AF65-F5344CB8AC3E}">
        <p14:creationId xmlns:p14="http://schemas.microsoft.com/office/powerpoint/2010/main" val="15418440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C1C993D-E20B-47C0-BA70-39D9DEE3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DE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FD61EF4-7306-4A28-9E88-6623466E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4737"/>
                </a:solidFill>
              </a:defRPr>
            </a:pPr>
            <a:r>
              <a:rPr sz="1650" b="1">
                <a:solidFill>
                  <a:srgbClr val="B84737"/>
                </a:solidFill>
              </a:rPr>
              <a:t>STRATEGY 03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5FDA60-0E4E-46AD-951A-AD53495B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47750"/>
            <a:ext cx="165354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126"/>
                </a:solidFill>
              </a:defRPr>
            </a:pPr>
            <a:r>
              <a:rPr sz="4800" b="1">
                <a:solidFill>
                  <a:srgbClr val="172126"/>
                </a:solidFill>
              </a:rPr>
              <a:t>Win by pairing jobs, not by picking favorites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538EC15-4392-4DC7-B11E-25E75F28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16535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05158"/>
                </a:solidFill>
              </a:defRPr>
            </a:pPr>
            <a:r>
              <a:rPr sz="2100">
                <a:solidFill>
                  <a:srgbClr val="405158"/>
                </a:solidFill>
              </a:rPr>
              <a:t>The strongest turns combine a mover, a threat, and a closer.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2B8A4-C1B6-4F0A-ADF9-DF622F12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7470"/>
            <a:ext cx="8124825" cy="3387090"/>
          </a:xfrm>
          <a:prstGeom xmlns:a="http://schemas.openxmlformats.org/drawingml/2006/main" prst="roundRect">
            <a:avLst>
              <a:gd name="adj" fmla="val 506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sp>
        <p:nvSpPr>
          <p:cNvPr id="6" name="combo-1-title">
            <a:extLst xmlns:a="http://schemas.openxmlformats.org/drawingml/2006/main">
              <a:ext uri="{FF2B5EF4-FFF2-40B4-BE49-F238E27FC236}">
                <a16:creationId xmlns:a16="http://schemas.microsoft.com/office/drawing/2014/main" id="{65136B0A-576F-4854-8C87-86D35077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756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C8167"/>
                </a:solidFill>
              </a:defRPr>
            </a:pPr>
            <a:r>
              <a:rPr sz="2700" b="1">
                <a:solidFill>
                  <a:srgbClr val="3C8167"/>
                </a:solidFill>
              </a:rPr>
              <a:t>Warrior + Healer</a:t>
            </a:r>
          </a:p>
        </p:txBody>
      </p:sp>
      <p:sp>
        <p:nvSpPr>
          <p:cNvPr id="7" name="combo-1-body">
            <a:extLst xmlns:a="http://schemas.openxmlformats.org/drawingml/2006/main">
              <a:ext uri="{FF2B5EF4-FFF2-40B4-BE49-F238E27FC236}">
                <a16:creationId xmlns:a16="http://schemas.microsoft.com/office/drawing/2014/main" id="{ADB2511E-D0B0-45C9-B0C7-97F2DAB1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7562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05158"/>
                </a:solidFill>
              </a:defRPr>
            </a:pPr>
            <a:r>
              <a:rPr sz="2025">
                <a:solidFill>
                  <a:srgbClr val="405158"/>
                </a:solidFill>
              </a:rPr>
              <a:t>The lane sponge becomes a repeat attacker.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1F52F-C45D-4E5D-AE0B-EBE3212B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17470"/>
            <a:ext cx="8124825" cy="3387090"/>
          </a:xfrm>
          <a:prstGeom xmlns:a="http://schemas.openxmlformats.org/drawingml/2006/main" prst="roundRect">
            <a:avLst>
              <a:gd name="adj" fmla="val 506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sp>
        <p:nvSpPr>
          <p:cNvPr id="9" name="combo-2-title">
            <a:extLst xmlns:a="http://schemas.openxmlformats.org/drawingml/2006/main">
              <a:ext uri="{FF2B5EF4-FFF2-40B4-BE49-F238E27FC236}">
                <a16:creationId xmlns:a16="http://schemas.microsoft.com/office/drawing/2014/main" id="{C223ABEC-0D67-472B-AFF3-695D093E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76550"/>
            <a:ext cx="756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F6FA3"/>
                </a:solidFill>
              </a:defRPr>
            </a:pPr>
            <a:r>
              <a:rPr sz="2700" b="1">
                <a:solidFill>
                  <a:srgbClr val="2F6FA3"/>
                </a:solidFill>
              </a:rPr>
              <a:t>Archer + Viking</a:t>
            </a:r>
          </a:p>
        </p:txBody>
      </p:sp>
      <p:sp>
        <p:nvSpPr>
          <p:cNvPr id="10" name="combo-2-body">
            <a:extLst xmlns:a="http://schemas.openxmlformats.org/drawingml/2006/main">
              <a:ext uri="{FF2B5EF4-FFF2-40B4-BE49-F238E27FC236}">
                <a16:creationId xmlns:a16="http://schemas.microsoft.com/office/drawing/2014/main" id="{B7C7A7F8-5F29-4472-AB37-FC162D19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48050"/>
            <a:ext cx="7562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05158"/>
                </a:solidFill>
              </a:defRPr>
            </a:pPr>
            <a:r>
              <a:rPr sz="2025">
                <a:solidFill>
                  <a:srgbClr val="405158"/>
                </a:solidFill>
              </a:rPr>
              <a:t>Chip from range, then finish with the huge melee hit.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E6576-EEC7-4328-BEAA-FF515781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52210"/>
            <a:ext cx="8124825" cy="3387090"/>
          </a:xfrm>
          <a:prstGeom xmlns:a="http://schemas.openxmlformats.org/drawingml/2006/main" prst="roundRect">
            <a:avLst>
              <a:gd name="adj" fmla="val 506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sp>
        <p:nvSpPr>
          <p:cNvPr id="12" name="combo-3-title">
            <a:extLst xmlns:a="http://schemas.openxmlformats.org/drawingml/2006/main">
              <a:ext uri="{FF2B5EF4-FFF2-40B4-BE49-F238E27FC236}">
                <a16:creationId xmlns:a16="http://schemas.microsoft.com/office/drawing/2014/main" id="{689B3AD5-2A08-4E6A-B6AC-B69FFD2A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15100"/>
            <a:ext cx="756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84737"/>
                </a:solidFill>
              </a:defRPr>
            </a:pPr>
            <a:r>
              <a:rPr sz="2700" b="1">
                <a:solidFill>
                  <a:srgbClr val="B84737"/>
                </a:solidFill>
              </a:rPr>
              <a:t>Trebuchet + Commander</a:t>
            </a:r>
          </a:p>
        </p:txBody>
      </p:sp>
      <p:sp>
        <p:nvSpPr>
          <p:cNvPr id="13" name="combo-3-body">
            <a:extLst xmlns:a="http://schemas.openxmlformats.org/drawingml/2006/main">
              <a:ext uri="{FF2B5EF4-FFF2-40B4-BE49-F238E27FC236}">
                <a16:creationId xmlns:a16="http://schemas.microsoft.com/office/drawing/2014/main" id="{AEE0F431-649A-4CD2-BCFC-FB0D7FD2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086600"/>
            <a:ext cx="7562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05158"/>
                </a:solidFill>
              </a:defRPr>
            </a:pPr>
            <a:r>
              <a:rPr sz="2025">
                <a:solidFill>
                  <a:srgbClr val="405158"/>
                </a:solidFill>
              </a:rPr>
              <a:t>Make the opponent choose between clustering and walking into command range.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BEF28-B284-4968-9EC1-FF4CC0BA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252210"/>
            <a:ext cx="8124825" cy="3387090"/>
          </a:xfrm>
          <a:prstGeom xmlns:a="http://schemas.openxmlformats.org/drawingml/2006/main" prst="roundRect">
            <a:avLst>
              <a:gd name="adj" fmla="val 506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CBB98E"/>
            </a:solidFill>
            <a:prstDash val="solid"/>
          </a:ln>
        </p:spPr>
      </p:sp>
      <p:sp>
        <p:nvSpPr>
          <p:cNvPr id="15" name="combo-4-title">
            <a:extLst xmlns:a="http://schemas.openxmlformats.org/drawingml/2006/main">
              <a:ext uri="{FF2B5EF4-FFF2-40B4-BE49-F238E27FC236}">
                <a16:creationId xmlns:a16="http://schemas.microsoft.com/office/drawing/2014/main" id="{0705EA66-B592-4F27-A675-BDADCBE4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515100"/>
            <a:ext cx="756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7A553B"/>
                </a:solidFill>
              </a:defRPr>
            </a:pPr>
            <a:r>
              <a:rPr sz="2700" b="1">
                <a:solidFill>
                  <a:srgbClr val="7A553B"/>
                </a:solidFill>
              </a:rPr>
              <a:t>Any threat + knockback</a:t>
            </a:r>
          </a:p>
        </p:txBody>
      </p:sp>
      <p:sp>
        <p:nvSpPr>
          <p:cNvPr id="16" name="combo-4-body">
            <a:extLst xmlns:a="http://schemas.openxmlformats.org/drawingml/2006/main">
              <a:ext uri="{FF2B5EF4-FFF2-40B4-BE49-F238E27FC236}">
                <a16:creationId xmlns:a16="http://schemas.microsoft.com/office/drawing/2014/main" id="{A8CADBE7-4BB9-4863-9B9D-EA39007A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086600"/>
            <a:ext cx="7562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05158"/>
                </a:solidFill>
              </a:defRPr>
            </a:pPr>
            <a:r>
              <a:rPr sz="2025">
                <a:solidFill>
                  <a:srgbClr val="405158"/>
                </a:solidFill>
              </a:rPr>
              <a:t>An attack that moves a unit can open a deployment lane or break a formation.</a:t>
            </a:r>
          </a:p>
        </p:txBody>
      </p:sp>
    </p:spTree>
    <p:extLst>
      <p:ext uri="{BB962C8B-B14F-4D97-AF65-F5344CB8AC3E}">
        <p14:creationId xmlns:p14="http://schemas.microsoft.com/office/powerpoint/2010/main" val="168917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2026-04-27T12:36:19.9530000Z</dcterms:created>
  <dcterms:modified xsi:type="dcterms:W3CDTF">2026-04-27T12:36:19.9530000Z</dcterms:modified>
</coreProperties>
</file>